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84" r:id="rId5"/>
    <p:sldId id="285" r:id="rId6"/>
    <p:sldId id="286" r:id="rId7"/>
    <p:sldId id="287" r:id="rId8"/>
    <p:sldId id="288" r:id="rId9"/>
    <p:sldId id="28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BEE6"/>
    <a:srgbClr val="FFFFFF"/>
    <a:srgbClr val="009CDE"/>
    <a:srgbClr val="FFD200"/>
    <a:srgbClr val="1E407C"/>
    <a:srgbClr val="25324A"/>
    <a:srgbClr val="F0F0F0"/>
    <a:srgbClr val="000000"/>
    <a:srgbClr val="A3AAAE"/>
    <a:srgbClr val="C7CC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F8540B-238A-2885-C32E-F7A6F9C664B8}" v="384" dt="2026-03-31T16:02:26.683"/>
  </p1510:revLst>
</p1510:revInfo>
</file>

<file path=ppt/tableStyles.xml><?xml version="1.0" encoding="utf-8"?>
<a:tblStyleLst xmlns:a="http://schemas.openxmlformats.org/drawingml/2006/main" def="{D27102A9-8310-4765-A935-A1911B00CA5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pos="3840"/>
        <p:guide orient="horz" pos="216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grut, Krishna Nitin" userId="S::knp5451@psu.edu::8d7da644-a16a-4440-b60c-20ab17967617" providerId="AD" clId="Web-{47F8540B-238A-2885-C32E-F7A6F9C664B8}"/>
    <pc:docChg chg="modSld">
      <pc:chgData name="Pagrut, Krishna Nitin" userId="S::knp5451@psu.edu::8d7da644-a16a-4440-b60c-20ab17967617" providerId="AD" clId="Web-{47F8540B-238A-2885-C32E-F7A6F9C664B8}" dt="2026-03-31T16:02:26.683" v="205" actId="1076"/>
      <pc:docMkLst>
        <pc:docMk/>
      </pc:docMkLst>
      <pc:sldChg chg="modSp">
        <pc:chgData name="Pagrut, Krishna Nitin" userId="S::knp5451@psu.edu::8d7da644-a16a-4440-b60c-20ab17967617" providerId="AD" clId="Web-{47F8540B-238A-2885-C32E-F7A6F9C664B8}" dt="2026-03-31T15:57:03.181" v="20" actId="20577"/>
        <pc:sldMkLst>
          <pc:docMk/>
          <pc:sldMk cId="3910794570" sldId="285"/>
        </pc:sldMkLst>
        <pc:spChg chg="mod">
          <ac:chgData name="Pagrut, Krishna Nitin" userId="S::knp5451@psu.edu::8d7da644-a16a-4440-b60c-20ab17967617" providerId="AD" clId="Web-{47F8540B-238A-2885-C32E-F7A6F9C664B8}" dt="2026-03-31T15:57:03.181" v="20" actId="20577"/>
          <ac:spMkLst>
            <pc:docMk/>
            <pc:sldMk cId="3910794570" sldId="285"/>
            <ac:spMk id="7" creationId="{AB35C87A-B93E-C04C-6653-BC0F59CDB6C0}"/>
          </ac:spMkLst>
        </pc:spChg>
      </pc:sldChg>
      <pc:sldChg chg="modSp">
        <pc:chgData name="Pagrut, Krishna Nitin" userId="S::knp5451@psu.edu::8d7da644-a16a-4440-b60c-20ab17967617" providerId="AD" clId="Web-{47F8540B-238A-2885-C32E-F7A6F9C664B8}" dt="2026-03-31T15:58:19.807" v="94" actId="20577"/>
        <pc:sldMkLst>
          <pc:docMk/>
          <pc:sldMk cId="3486996263" sldId="286"/>
        </pc:sldMkLst>
        <pc:spChg chg="mod">
          <ac:chgData name="Pagrut, Krishna Nitin" userId="S::knp5451@psu.edu::8d7da644-a16a-4440-b60c-20ab17967617" providerId="AD" clId="Web-{47F8540B-238A-2885-C32E-F7A6F9C664B8}" dt="2026-03-31T15:58:19.807" v="94" actId="20577"/>
          <ac:spMkLst>
            <pc:docMk/>
            <pc:sldMk cId="3486996263" sldId="286"/>
            <ac:spMk id="4" creationId="{3F10F7AA-6326-9AA4-25B8-3FEEBC350760}"/>
          </ac:spMkLst>
        </pc:spChg>
      </pc:sldChg>
      <pc:sldChg chg="modSp">
        <pc:chgData name="Pagrut, Krishna Nitin" userId="S::knp5451@psu.edu::8d7da644-a16a-4440-b60c-20ab17967617" providerId="AD" clId="Web-{47F8540B-238A-2885-C32E-F7A6F9C664B8}" dt="2026-03-31T16:00:30.691" v="144" actId="20577"/>
        <pc:sldMkLst>
          <pc:docMk/>
          <pc:sldMk cId="2459092652" sldId="287"/>
        </pc:sldMkLst>
        <pc:spChg chg="mod">
          <ac:chgData name="Pagrut, Krishna Nitin" userId="S::knp5451@psu.edu::8d7da644-a16a-4440-b60c-20ab17967617" providerId="AD" clId="Web-{47F8540B-238A-2885-C32E-F7A6F9C664B8}" dt="2026-03-31T16:00:30.691" v="144" actId="20577"/>
          <ac:spMkLst>
            <pc:docMk/>
            <pc:sldMk cId="2459092652" sldId="287"/>
            <ac:spMk id="4" creationId="{4FA37CD8-DCAA-7DDB-BDAF-FA73B5F82096}"/>
          </ac:spMkLst>
        </pc:spChg>
      </pc:sldChg>
      <pc:sldChg chg="modSp">
        <pc:chgData name="Pagrut, Krishna Nitin" userId="S::knp5451@psu.edu::8d7da644-a16a-4440-b60c-20ab17967617" providerId="AD" clId="Web-{47F8540B-238A-2885-C32E-F7A6F9C664B8}" dt="2026-03-31T16:02:05.166" v="202" actId="20577"/>
        <pc:sldMkLst>
          <pc:docMk/>
          <pc:sldMk cId="3458721654" sldId="288"/>
        </pc:sldMkLst>
        <pc:spChg chg="mod">
          <ac:chgData name="Pagrut, Krishna Nitin" userId="S::knp5451@psu.edu::8d7da644-a16a-4440-b60c-20ab17967617" providerId="AD" clId="Web-{47F8540B-238A-2885-C32E-F7A6F9C664B8}" dt="2026-03-31T16:00:41.723" v="148" actId="20577"/>
          <ac:spMkLst>
            <pc:docMk/>
            <pc:sldMk cId="3458721654" sldId="288"/>
            <ac:spMk id="2" creationId="{77E0E7B8-542A-5914-3605-F9C352427DA7}"/>
          </ac:spMkLst>
        </pc:spChg>
        <pc:spChg chg="mod">
          <ac:chgData name="Pagrut, Krishna Nitin" userId="S::knp5451@psu.edu::8d7da644-a16a-4440-b60c-20ab17967617" providerId="AD" clId="Web-{47F8540B-238A-2885-C32E-F7A6F9C664B8}" dt="2026-03-31T16:02:05.166" v="202" actId="20577"/>
          <ac:spMkLst>
            <pc:docMk/>
            <pc:sldMk cId="3458721654" sldId="288"/>
            <ac:spMk id="4" creationId="{B62B9C97-2760-4CC7-1BF2-F8F80F9CB55B}"/>
          </ac:spMkLst>
        </pc:spChg>
      </pc:sldChg>
      <pc:sldChg chg="modSp">
        <pc:chgData name="Pagrut, Krishna Nitin" userId="S::knp5451@psu.edu::8d7da644-a16a-4440-b60c-20ab17967617" providerId="AD" clId="Web-{47F8540B-238A-2885-C32E-F7A6F9C664B8}" dt="2026-03-31T16:02:26.683" v="205" actId="1076"/>
        <pc:sldMkLst>
          <pc:docMk/>
          <pc:sldMk cId="784568077" sldId="289"/>
        </pc:sldMkLst>
        <pc:spChg chg="mod">
          <ac:chgData name="Pagrut, Krishna Nitin" userId="S::knp5451@psu.edu::8d7da644-a16a-4440-b60c-20ab17967617" providerId="AD" clId="Web-{47F8540B-238A-2885-C32E-F7A6F9C664B8}" dt="2026-03-31T16:02:26.683" v="205" actId="1076"/>
          <ac:spMkLst>
            <pc:docMk/>
            <pc:sldMk cId="784568077" sldId="289"/>
            <ac:spMk id="4" creationId="{91C58BE4-785E-E0D2-9935-AB198A6AB9D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42AEA1-A4D9-0CCB-F45A-B1E1439F1A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4A58F-8F56-AC2F-BF1F-CC6DC677BC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C506B-9C0A-7C42-AABC-F7A7C632EC5D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AB37E-160B-D909-0FF9-07D0690CDC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8ED66-3D76-AA61-3811-390722B429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79E4A-7233-C749-8BF5-78FC642D4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74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F9AC51-1594-3C45-9820-82036BC34A3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9D638-7D78-EA4A-A05B-01174BE0F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17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69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Contact ISSA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Contact office of Student Aid  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9D638-7D78-EA4A-A05B-01174BE0F3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064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CommCnrShld Graphic">
            <a:extLst>
              <a:ext uri="{FF2B5EF4-FFF2-40B4-BE49-F238E27FC236}">
                <a16:creationId xmlns:a16="http://schemas.microsoft.com/office/drawing/2014/main" id="{F373BAED-49B4-A922-D2DD-83B86D824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153400" y="2011680"/>
            <a:ext cx="4038601" cy="4846321"/>
            <a:chOff x="9550401" y="3688081"/>
            <a:chExt cx="2641599" cy="3169919"/>
          </a:xfrm>
        </p:grpSpPr>
        <p:sp>
          <p:nvSpPr>
            <p:cNvPr id="13" name="Corner Shield Shape Right">
              <a:extLst>
                <a:ext uri="{FF2B5EF4-FFF2-40B4-BE49-F238E27FC236}">
                  <a16:creationId xmlns:a16="http://schemas.microsoft.com/office/drawing/2014/main" id="{86A60D22-4897-D628-2F4B-29E49B076D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4" name="Comm Shield Corner">
              <a:extLst>
                <a:ext uri="{FF2B5EF4-FFF2-40B4-BE49-F238E27FC236}">
                  <a16:creationId xmlns:a16="http://schemas.microsoft.com/office/drawing/2014/main" id="{6907CFA7-DA25-9315-C431-0372EFB1D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A6EFBB5-30AC-C871-D426-6A0BE13F7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990600"/>
            <a:ext cx="9601200" cy="2519363"/>
          </a:xfrm>
        </p:spPr>
        <p:txBody>
          <a:bodyPr anchor="b"/>
          <a:lstStyle>
            <a:lvl1pPr algn="l">
              <a:defRPr sz="6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4EB8D-C5EF-C32E-D8C7-15E1792F9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602038"/>
            <a:ext cx="9601200" cy="1274762"/>
          </a:xfrm>
        </p:spPr>
        <p:txBody>
          <a:bodyPr/>
          <a:lstStyle>
            <a:lvl1pPr marL="0" indent="0" algn="l"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EBBAE-C4A0-F2D9-A43F-328BD416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2789" y="0"/>
            <a:ext cx="3089211" cy="914400"/>
          </a:xfrm>
        </p:spPr>
        <p:txBody>
          <a:bodyPr/>
          <a:lstStyle>
            <a:lvl1pPr algn="r">
              <a:defRPr/>
            </a:lvl1pPr>
          </a:lstStyle>
          <a:p>
            <a:fld id="{4D83A44C-8064-3F47-951D-EE74B1CE44B9}" type="datetime1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318BB-68AB-F92B-99D2-699E766B5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F2ACF-01D0-F003-D6CD-197BC00E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679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CommCnrShld Graphic">
            <a:extLst>
              <a:ext uri="{FF2B5EF4-FFF2-40B4-BE49-F238E27FC236}">
                <a16:creationId xmlns:a16="http://schemas.microsoft.com/office/drawing/2014/main" id="{67AFFE4C-AD09-A4B4-266D-0CDBFC24F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153400" y="2011680"/>
            <a:ext cx="4038601" cy="4846321"/>
            <a:chOff x="9550401" y="3688081"/>
            <a:chExt cx="2641599" cy="3169919"/>
          </a:xfrm>
        </p:grpSpPr>
        <p:sp>
          <p:nvSpPr>
            <p:cNvPr id="11" name="Corner Shield Shape Right">
              <a:extLst>
                <a:ext uri="{FF2B5EF4-FFF2-40B4-BE49-F238E27FC236}">
                  <a16:creationId xmlns:a16="http://schemas.microsoft.com/office/drawing/2014/main" id="{49D02B88-1226-677B-BE20-324F0F9CB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12" name="Comm Shield Corner">
              <a:extLst>
                <a:ext uri="{FF2B5EF4-FFF2-40B4-BE49-F238E27FC236}">
                  <a16:creationId xmlns:a16="http://schemas.microsoft.com/office/drawing/2014/main" id="{D6679DDB-1E63-F5D0-55BF-F77DEE0E6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EDA0D94-A5D8-A033-57AC-B05EF0107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37657"/>
            <a:ext cx="9677400" cy="27432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A5B9B-B0BE-4DBF-1904-4FDEF848F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590393"/>
            <a:ext cx="8228013" cy="120080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AE21E-52C8-F0D8-877A-7F63F8DEE6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02789" y="0"/>
            <a:ext cx="3089211" cy="914400"/>
          </a:xfrm>
        </p:spPr>
        <p:txBody>
          <a:bodyPr/>
          <a:lstStyle>
            <a:lvl1pPr algn="r">
              <a:defRPr/>
            </a:lvl1pPr>
          </a:lstStyle>
          <a:p>
            <a:fld id="{D3B27A41-27B9-E448-9F3A-69E294D7051D}" type="datetime1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1F391-6A8E-3DD1-AA3E-099C67E66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638E9-4BAB-5563-88CD-156F06F9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22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BE763-F41D-F991-1AB4-82B8D57342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slide title, key point, or assertion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96128-8A19-FE3B-2DAF-0406DB50386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66800" y="1825625"/>
            <a:ext cx="10056813" cy="3736975"/>
          </a:xfrm>
        </p:spPr>
        <p:txBody>
          <a:bodyPr/>
          <a:lstStyle>
            <a:lvl2pPr marL="777240" indent="-182880">
              <a:defRPr/>
            </a:lvl2pPr>
          </a:lstStyle>
          <a:p>
            <a:pPr marL="201168" marR="0" lvl="0" indent="-201168" algn="l" defTabSz="9144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/>
              <a:t>Click to add text or choose an icon below to insert other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BDCF0-7468-FACC-ACE3-74245710C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5B02E-A76A-D543-896B-0002B4A60318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55521-2464-763C-14E3-1546CCD69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9F393-FA98-BA11-DB7E-F32E606FE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30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F787D-E2BC-F3FE-5703-A9932B981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4114800" cy="26797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B8DDE-3683-969F-02EF-973A709694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676275"/>
            <a:ext cx="6399212" cy="458628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text or choose an icon below to insert other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2CB31-00D3-E20B-B087-8ADEFEF73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3429000"/>
            <a:ext cx="4114800" cy="22860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A5B58-8500-964C-1BC6-DA163AB28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8D83B-FBE8-6341-9B65-B8DF7340B97B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413BC-AAC0-9E6D-3C7D-EC459FA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21EAB-7603-CF08-3D09-C89AAFB4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43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3E1FC-5694-8B89-C491-7BA53E35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1613" y="762000"/>
            <a:ext cx="4725987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F6D286-2952-5BB3-594A-BF27B94849A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1" y="990600"/>
            <a:ext cx="5486400" cy="4298899"/>
          </a:xfrm>
          <a:noFill/>
          <a:effectLst/>
        </p:spPr>
        <p:txBody>
          <a:bodyPr tIns="36576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None/>
              <a:tabLst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below to add picture. </a:t>
            </a:r>
            <a:br>
              <a:rPr lang="en-US"/>
            </a:br>
            <a:r>
              <a:rPr lang="en-US"/>
              <a:t>To crop the picture, click Crop on the Picture Tools tab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B9431-C3FE-7CB8-8A4E-11841E03BA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1613" y="3048000"/>
            <a:ext cx="4572000" cy="2241499"/>
          </a:xfrm>
        </p:spPr>
        <p:txBody>
          <a:bodyPr anchor="b" anchorCtr="0">
            <a:normAutofit/>
          </a:bodyPr>
          <a:lstStyle>
            <a:lvl1pPr marL="0" indent="0">
              <a:buClr>
                <a:schemeClr val="accent1"/>
              </a:buClr>
              <a:buSzPct val="120000"/>
              <a:buFont typeface="System Font Regular"/>
              <a:buNone/>
              <a:tabLst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E0845-C3A7-6E8F-5C61-5E11CF4CD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22E21-6626-7F48-BD7E-E9F69B4CC986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0A072-5CE9-D9EB-FA5A-347D0DC3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6F95E-8EB8-15D7-077A-28ED3EBB5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46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CFC1A-8AA3-1F3A-309D-65B86EB54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ABC937-51C8-A943-FFC9-D9B57CEBD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CF7B2-6D0C-1749-99C8-CF428F75A01C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0B8A71-9225-7CD8-1C83-DBBDBCDCF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F5A8CB-332D-9515-5CFE-8172E869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68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E07C2-6D9C-BF04-E789-5975B362A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25318-746A-F1C9-9F76-E0E02D493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825625"/>
            <a:ext cx="5029200" cy="3432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5F21F-1339-03C9-C6C8-52CF6F85F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11766" y="1825625"/>
            <a:ext cx="5029201" cy="3432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BD777-E1ED-B7BD-D234-FBA2A93D0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02C91-2BFC-A04F-9296-2B99B3ED0817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BCB7D-2D1A-A8C3-18BF-F19BD4A6C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1049C-0A42-1626-E4CB-C9416DAB0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30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6E5F2-E07D-49A5-45D2-61A59E6F2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0064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D649B-7DD0-707F-0286-3C79FF008D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8331" y="1421607"/>
            <a:ext cx="5026025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E628A-8E78-3092-8EEC-BCD0443E9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331" y="2245519"/>
            <a:ext cx="5026025" cy="3133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09B32-F927-21F8-6DB7-B78B0048D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7645" y="1421607"/>
            <a:ext cx="5033167" cy="823912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AE6394-88A7-A6AA-0283-D80CBBB03F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7645" y="2245519"/>
            <a:ext cx="5033168" cy="3133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A32CFC-E655-92D0-91E5-1D2C643C7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1133-C6F7-A54C-B4F9-F574FC8B44CF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FD39A2-B6C2-50DB-DA1C-26525AE1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1E5A19-DEF8-8A75-0CA7-231B9280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30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4B92D9-0B28-E637-181B-4BD4F8C5E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07659-B258-5942-BADA-20CC774035A0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954192-2427-0DC8-0EAA-A64403D9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13789-D139-DD4C-0551-12E374CD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99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525F-0A3B-0A82-FBA8-69CEB60A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F726D1-60B7-13F2-745F-8628A92E3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964F2-ED7E-FB0A-F2FC-34613DC96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F8AD4-0A8D-1942-AD91-7D3C5A1D73BF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810DB-DBB4-3D40-4773-A7EC1479B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FE995-CC29-4AFA-CB27-CF08B1F5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6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18F61B-E0C1-9CF0-2B16-FE8B941ECC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DFCD1-4F9D-5A79-22BB-572B3A36F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1F889-A890-6F2D-CE9F-A7EAED634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1F17A-2A7E-764E-8194-BD617B10743D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5AB35-9A8B-4638-DC3C-9A106845E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99216-C74A-2574-5A1E-6232E83EA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B55-F3E9-1242-8F18-D40061936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06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CommCnrShld">
            <a:extLst>
              <a:ext uri="{FF2B5EF4-FFF2-40B4-BE49-F238E27FC236}">
                <a16:creationId xmlns:a16="http://schemas.microsoft.com/office/drawing/2014/main" id="{1618A93B-3E0D-4C69-C17E-DF520880C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550401" y="3688081"/>
            <a:ext cx="2641599" cy="3169919"/>
            <a:chOff x="9550401" y="3688081"/>
            <a:chExt cx="2641599" cy="3169919"/>
          </a:xfrm>
        </p:grpSpPr>
        <p:sp>
          <p:nvSpPr>
            <p:cNvPr id="20" name="Corner Shield Shape Right">
              <a:extLst>
                <a:ext uri="{FF2B5EF4-FFF2-40B4-BE49-F238E27FC236}">
                  <a16:creationId xmlns:a16="http://schemas.microsoft.com/office/drawing/2014/main" id="{B7ECB6A5-D104-7FF6-DCD8-4B1AE2FA2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799087" y="3700789"/>
              <a:ext cx="2392913" cy="3157211"/>
            </a:xfrm>
            <a:custGeom>
              <a:avLst/>
              <a:gdLst>
                <a:gd name="connsiteX0" fmla="*/ 0 w 1637473"/>
                <a:gd name="connsiteY0" fmla="*/ 2160483 h 2160483"/>
                <a:gd name="connsiteX1" fmla="*/ 1637474 w 1637473"/>
                <a:gd name="connsiteY1" fmla="*/ 2160483 h 2160483"/>
                <a:gd name="connsiteX2" fmla="*/ 1637474 w 1637473"/>
                <a:gd name="connsiteY2" fmla="*/ 0 h 2160483"/>
                <a:gd name="connsiteX3" fmla="*/ 0 w 1637473"/>
                <a:gd name="connsiteY3" fmla="*/ 2160483 h 2160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7473" h="2160483">
                  <a:moveTo>
                    <a:pt x="0" y="2160483"/>
                  </a:moveTo>
                  <a:lnTo>
                    <a:pt x="1637474" y="2160483"/>
                  </a:lnTo>
                  <a:lnTo>
                    <a:pt x="1637474" y="0"/>
                  </a:lnTo>
                  <a:cubicBezTo>
                    <a:pt x="1637474" y="1113830"/>
                    <a:pt x="688808" y="1755720"/>
                    <a:pt x="0" y="2160483"/>
                  </a:cubicBezTo>
                  <a:close/>
                </a:path>
              </a:pathLst>
            </a:custGeom>
            <a:solidFill>
              <a:srgbClr val="1E407C"/>
            </a:solidFill>
            <a:ln w="12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pic>
          <p:nvPicPr>
            <p:cNvPr id="21" name="Comm Shield Corner">
              <a:extLst>
                <a:ext uri="{FF2B5EF4-FFF2-40B4-BE49-F238E27FC236}">
                  <a16:creationId xmlns:a16="http://schemas.microsoft.com/office/drawing/2014/main" id="{70B461F0-4C10-DA44-2A54-6677C5265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550401" y="3688081"/>
              <a:ext cx="2641599" cy="3169919"/>
            </a:xfrm>
            <a:prstGeom prst="rect">
              <a:avLst/>
            </a:prstGeom>
          </p:spPr>
        </p:pic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7A061B-E2D0-062A-8997-8B6BC4AB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9144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52739-D66F-AA7A-6920-E8A8EA468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93851"/>
            <a:ext cx="10972800" cy="419734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9654C-F683-C04E-AC9E-E1AB426C28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413" y="5943600"/>
            <a:ext cx="3089211" cy="914400"/>
          </a:xfrm>
          <a:prstGeom prst="rect">
            <a:avLst/>
          </a:prstGeom>
        </p:spPr>
        <p:txBody>
          <a:bodyPr vert="horz" lIns="91440" tIns="265176" rIns="1005840" bIns="91440" rtlCol="0" anchor="t" anchorCtr="0"/>
          <a:lstStyle>
            <a:lvl1pPr algn="l">
              <a:defRPr sz="1600" b="0">
                <a:solidFill>
                  <a:schemeClr val="tx2"/>
                </a:solidFill>
              </a:defRPr>
            </a:lvl1pPr>
          </a:lstStyle>
          <a:p>
            <a:fld id="{9E944EA1-8BCD-964C-87E6-31892231A579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EAB10-171B-90F2-7CFE-E58935A2E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4388" y="5943600"/>
            <a:ext cx="5026025" cy="914400"/>
          </a:xfrm>
          <a:prstGeom prst="rect">
            <a:avLst/>
          </a:prstGeom>
        </p:spPr>
        <p:txBody>
          <a:bodyPr vert="horz" lIns="548640" tIns="265176" rIns="182880" bIns="91440" rtlCol="0" anchor="t" anchorCtr="0"/>
          <a:lstStyle>
            <a:lvl1pPr algn="l">
              <a:defRPr sz="1600" b="0" i="0">
                <a:solidFill>
                  <a:schemeClr val="tx2"/>
                </a:solidFill>
                <a:latin typeface="+mn-lt"/>
                <a:cs typeface="Arial Narrow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E1D52-E2F8-EB1B-5C28-22BEBDFE9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9624" y="5943600"/>
            <a:ext cx="722376" cy="914400"/>
          </a:xfrm>
          <a:prstGeom prst="rect">
            <a:avLst/>
          </a:prstGeom>
        </p:spPr>
        <p:txBody>
          <a:bodyPr vert="horz" lIns="91440" tIns="265176" rIns="91440" bIns="91440" rtlCol="0" anchor="t" anchorCtr="0"/>
          <a:lstStyle>
            <a:lvl1pPr algn="ctr">
              <a:defRPr sz="1600" b="1" i="0">
                <a:solidFill>
                  <a:srgbClr val="F0F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E1D1B55-F3E9-1242-8F18-D4006193687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4" name="Penn State Mark on Light BG" descr="Penn State University mark">
            <a:extLst>
              <a:ext uri="{FF2B5EF4-FFF2-40B4-BE49-F238E27FC236}">
                <a16:creationId xmlns:a16="http://schemas.microsoft.com/office/drawing/2014/main" id="{4FF244CC-1E2C-0F93-5B63-C9B4115A94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493044" y="6013529"/>
            <a:ext cx="1709112" cy="78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059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2" r:id="rId3"/>
    <p:sldLayoutId id="2147483656" r:id="rId4"/>
    <p:sldLayoutId id="2147483657" r:id="rId5"/>
    <p:sldLayoutId id="2147483675" r:id="rId6"/>
    <p:sldLayoutId id="2147483673" r:id="rId7"/>
    <p:sldLayoutId id="2147483674" r:id="rId8"/>
    <p:sldLayoutId id="2147483655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01168" indent="-201168" algn="l" defTabSz="914400" rtl="0" eaLnBrk="1" latinLnBrk="0" hangingPunct="1">
        <a:lnSpc>
          <a:spcPct val="90000"/>
        </a:lnSpc>
        <a:spcBef>
          <a:spcPts val="2000"/>
        </a:spcBef>
        <a:buClr>
          <a:schemeClr val="tx2"/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9436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51560" indent="-137160" algn="l" defTabSz="914400" rtl="0" eaLnBrk="1" latinLnBrk="0" hangingPunct="1">
        <a:lnSpc>
          <a:spcPct val="90000"/>
        </a:lnSpc>
        <a:spcBef>
          <a:spcPts val="11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417320" indent="-13716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65960" indent="-137160" algn="l" defTabSz="914400" rtl="0" eaLnBrk="1" latinLnBrk="0" hangingPunct="1">
        <a:lnSpc>
          <a:spcPct val="90000"/>
        </a:lnSpc>
        <a:spcBef>
          <a:spcPts val="800"/>
        </a:spcBef>
        <a:buClr>
          <a:schemeClr val="tx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2B7E6"/>
          </p15:clr>
        </p15:guide>
        <p15:guide id="2" pos="7680" userDrawn="1">
          <p15:clr>
            <a:srgbClr val="A2B7E6"/>
          </p15:clr>
        </p15:guide>
        <p15:guide id="3" pos="384" userDrawn="1">
          <p15:clr>
            <a:srgbClr val="A2B7E6"/>
          </p15:clr>
        </p15:guide>
        <p15:guide id="4" pos="672" userDrawn="1">
          <p15:clr>
            <a:srgbClr val="A2B7E6"/>
          </p15:clr>
        </p15:guide>
        <p15:guide id="5" pos="960" userDrawn="1">
          <p15:clr>
            <a:srgbClr val="A2B7E6"/>
          </p15:clr>
        </p15:guide>
        <p15:guide id="6" pos="1248" userDrawn="1">
          <p15:clr>
            <a:srgbClr val="A2B7E6"/>
          </p15:clr>
        </p15:guide>
        <p15:guide id="7" pos="1536" userDrawn="1">
          <p15:clr>
            <a:srgbClr val="A2B7E6"/>
          </p15:clr>
        </p15:guide>
        <p15:guide id="8" pos="1824" userDrawn="1">
          <p15:clr>
            <a:srgbClr val="A2B7E6"/>
          </p15:clr>
        </p15:guide>
        <p15:guide id="9" pos="2112" userDrawn="1">
          <p15:clr>
            <a:srgbClr val="A2B7E6"/>
          </p15:clr>
        </p15:guide>
        <p15:guide id="10" pos="2400" userDrawn="1">
          <p15:clr>
            <a:srgbClr val="A2B7E6"/>
          </p15:clr>
        </p15:guide>
        <p15:guide id="11" pos="2688" userDrawn="1">
          <p15:clr>
            <a:srgbClr val="A2B7E6"/>
          </p15:clr>
        </p15:guide>
        <p15:guide id="12" pos="2976" userDrawn="1">
          <p15:clr>
            <a:srgbClr val="A2B7E6"/>
          </p15:clr>
        </p15:guide>
        <p15:guide id="13" pos="3264" userDrawn="1">
          <p15:clr>
            <a:srgbClr val="A2B7E6"/>
          </p15:clr>
        </p15:guide>
        <p15:guide id="14" pos="3552" userDrawn="1">
          <p15:clr>
            <a:srgbClr val="A2B7E6"/>
          </p15:clr>
        </p15:guide>
        <p15:guide id="15" pos="3840" userDrawn="1">
          <p15:clr>
            <a:srgbClr val="A2B7E6"/>
          </p15:clr>
        </p15:guide>
        <p15:guide id="16" pos="4127" userDrawn="1">
          <p15:clr>
            <a:srgbClr val="A2B7E6"/>
          </p15:clr>
        </p15:guide>
        <p15:guide id="17" pos="4415" userDrawn="1">
          <p15:clr>
            <a:srgbClr val="A2B7E6"/>
          </p15:clr>
        </p15:guide>
        <p15:guide id="18" pos="4703" userDrawn="1">
          <p15:clr>
            <a:srgbClr val="A2B7E6"/>
          </p15:clr>
        </p15:guide>
        <p15:guide id="19" pos="4991" userDrawn="1">
          <p15:clr>
            <a:srgbClr val="A2B7E6"/>
          </p15:clr>
        </p15:guide>
        <p15:guide id="20" pos="5279" userDrawn="1">
          <p15:clr>
            <a:srgbClr val="A2B7E6"/>
          </p15:clr>
        </p15:guide>
        <p15:guide id="21" pos="5567" userDrawn="1">
          <p15:clr>
            <a:srgbClr val="A2B7E6"/>
          </p15:clr>
        </p15:guide>
        <p15:guide id="22" pos="5855" userDrawn="1">
          <p15:clr>
            <a:srgbClr val="A2B7E6"/>
          </p15:clr>
        </p15:guide>
        <p15:guide id="23" pos="6144" userDrawn="1">
          <p15:clr>
            <a:srgbClr val="A2B7E6"/>
          </p15:clr>
        </p15:guide>
        <p15:guide id="24" pos="6431" userDrawn="1">
          <p15:clr>
            <a:srgbClr val="A2B7E6"/>
          </p15:clr>
        </p15:guide>
        <p15:guide id="25" pos="6719" userDrawn="1">
          <p15:clr>
            <a:srgbClr val="A2B7E6"/>
          </p15:clr>
        </p15:guide>
        <p15:guide id="26" pos="7007" userDrawn="1">
          <p15:clr>
            <a:srgbClr val="A2B7E6"/>
          </p15:clr>
        </p15:guide>
        <p15:guide id="27" pos="7295" userDrawn="1">
          <p15:clr>
            <a:srgbClr val="A2B7E6"/>
          </p15:clr>
        </p15:guide>
        <p15:guide id="28" orient="horz" userDrawn="1">
          <p15:clr>
            <a:srgbClr val="A2B7E6"/>
          </p15:clr>
        </p15:guide>
        <p15:guide id="29" orient="horz" pos="4320" userDrawn="1">
          <p15:clr>
            <a:srgbClr val="A2B7E6"/>
          </p15:clr>
        </p15:guide>
        <p15:guide id="30" orient="horz" pos="426" userDrawn="1">
          <p15:clr>
            <a:srgbClr val="A2B7E6"/>
          </p15:clr>
        </p15:guide>
        <p15:guide id="31" orient="horz" pos="1004" userDrawn="1">
          <p15:clr>
            <a:srgbClr val="A2B7E6"/>
          </p15:clr>
        </p15:guide>
        <p15:guide id="32" orient="horz" pos="1582" userDrawn="1">
          <p15:clr>
            <a:srgbClr val="A2B7E6"/>
          </p15:clr>
        </p15:guide>
        <p15:guide id="33" orient="horz" pos="2160" userDrawn="1">
          <p15:clr>
            <a:srgbClr val="A2B7E6"/>
          </p15:clr>
        </p15:guide>
        <p15:guide id="34" orient="horz" pos="2737" userDrawn="1">
          <p15:clr>
            <a:srgbClr val="A2B7E6"/>
          </p15:clr>
        </p15:guide>
        <p15:guide id="35" orient="horz" pos="3315" userDrawn="1">
          <p15:clr>
            <a:srgbClr val="A2B7E6"/>
          </p15:clr>
        </p15:guide>
        <p15:guide id="36" orient="horz" pos="3893" userDrawn="1">
          <p15:clr>
            <a:srgbClr val="A2B7E6"/>
          </p15:clr>
        </p15:guide>
        <p15:guide id="37" orient="horz" pos="403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F2308-0E50-8ADA-7E87-DA529A587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480" y="1520190"/>
            <a:ext cx="10824210" cy="3168491"/>
          </a:xfrm>
        </p:spPr>
        <p:txBody>
          <a:bodyPr anchor="b">
            <a:noAutofit/>
          </a:bodyPr>
          <a:lstStyle/>
          <a:p>
            <a:r>
              <a:rPr lang="en-US" sz="8800"/>
              <a:t>Undergraduate Grade Forgiveness (H-2)</a:t>
            </a:r>
            <a:endParaRPr lang="en-US" sz="8000"/>
          </a:p>
        </p:txBody>
      </p:sp>
    </p:spTree>
    <p:extLst>
      <p:ext uri="{BB962C8B-B14F-4D97-AF65-F5344CB8AC3E}">
        <p14:creationId xmlns:p14="http://schemas.microsoft.com/office/powerpoint/2010/main" val="319886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E8802-5CA9-92C0-E00C-96D3A210C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560070"/>
            <a:ext cx="9601200" cy="1018223"/>
          </a:xfrm>
        </p:spPr>
        <p:txBody>
          <a:bodyPr/>
          <a:lstStyle/>
          <a:p>
            <a:r>
              <a:rPr lang="en-US" sz="4400"/>
              <a:t>Grade Forgiveness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B35C87A-B93E-C04C-6653-BC0F59CDB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262" y="1841195"/>
            <a:ext cx="10118852" cy="2794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You can request grade forgiveness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only after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you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repeat the course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and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earn a higher grade</a:t>
            </a: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cs typeface="Arial"/>
              </a:rPr>
              <a:t>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cs typeface="Arial"/>
              </a:rPr>
              <a:t>original grade remains on the transcript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cs typeface="Arial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q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cs typeface="Arial"/>
              </a:rPr>
              <a:t>Your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cs typeface="Arial"/>
              </a:rPr>
              <a:t>GPA is calculated without the forgiven grade</a:t>
            </a:r>
            <a:r>
              <a:rPr lang="en-US" altLang="en-US" sz="2400" b="1" dirty="0">
                <a:cs typeface="Arial"/>
              </a:rPr>
              <a:t> and the credit count goes down as well. 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794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5E47-918D-5BE2-3BFF-A43FBF0F8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725489"/>
            <a:ext cx="9601200" cy="1009650"/>
          </a:xfrm>
        </p:spPr>
        <p:txBody>
          <a:bodyPr/>
          <a:lstStyle/>
          <a:p>
            <a:r>
              <a:rPr lang="en-US" sz="4400"/>
              <a:t>Requirements and limits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10F7AA-6326-9AA4-25B8-3FEEBC35076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02970" y="2345269"/>
            <a:ext cx="9928860" cy="28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q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You must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repeat the course </a:t>
            </a:r>
            <a:r>
              <a:rPr lang="en-US" altLang="en-US" sz="2000" b="1">
                <a:latin typeface="Arial"/>
                <a:cs typeface="Arial"/>
              </a:rPr>
              <a:t>at Penn State Campuses</a:t>
            </a:r>
            <a:r>
              <a:rPr lang="en-US" altLang="en-US" sz="2000">
                <a:latin typeface="Arial"/>
                <a:cs typeface="Arial"/>
              </a:rPr>
              <a:t>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(per course repeat policy) and have the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new grade posted</a:t>
            </a:r>
            <a:r>
              <a:rPr lang="en-US" altLang="en-US" sz="2000" b="1">
                <a:latin typeface="Arial"/>
                <a:cs typeface="Arial"/>
              </a:rPr>
              <a:t>.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q"/>
            </a:pPr>
            <a:r>
              <a:rPr lang="en-US" altLang="en-US" sz="2000" dirty="0">
                <a:latin typeface="Arial"/>
                <a:cs typeface="Arial"/>
              </a:rPr>
              <a:t>The repeated course can have any extension and it will be counted.  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You submit the request in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effectLst/>
                <a:latin typeface="Arial"/>
                <a:cs typeface="Arial"/>
              </a:rPr>
              <a:t>LionPATH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Student Center &gt; Academic Records &gt; Grade Forgiveness</a:t>
            </a:r>
            <a:r>
              <a:rPr lang="en-US" altLang="en-US" sz="2000" b="1" dirty="0">
                <a:latin typeface="Arial"/>
                <a:cs typeface="Arial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12 credits maximum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 can be forgiven</a:t>
            </a:r>
            <a:r>
              <a:rPr lang="en-US" altLang="en-US" sz="2000">
                <a:latin typeface="Arial"/>
                <a:cs typeface="Arial"/>
              </a:rPr>
              <a:t>.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6996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0DD12-1F25-717F-540D-796527301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660" y="529274"/>
            <a:ext cx="10066020" cy="670876"/>
          </a:xfrm>
        </p:spPr>
        <p:txBody>
          <a:bodyPr/>
          <a:lstStyle/>
          <a:p>
            <a:r>
              <a:rPr lang="en-US" sz="4400"/>
              <a:t>When you cannot use grade forgiveness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A37CD8-DCAA-7DDB-BDAF-FA73B5F8209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08660" y="1316370"/>
            <a:ext cx="9601200" cy="4651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it if you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have graduated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course was in your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semester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it must be approved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before degree conferral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(about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week after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final grade reporting deadline)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You can only forgive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D or F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 grades (not C or higher)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 applied if you received an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 sanction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due to an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 integrity violation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Transfer courses cannot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forgive grades earned in Penn State courses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q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“Equivalent courses” must share the same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Subject and Catalog </a:t>
            </a:r>
            <a:r>
              <a:rPr lang="en-US" altLang="en-US" sz="2000" b="1">
                <a:latin typeface="Arial"/>
                <a:cs typeface="Arial"/>
              </a:rPr>
              <a:t>Number</a:t>
            </a:r>
            <a:r>
              <a:rPr lang="en-US" altLang="en-US" sz="2000" dirty="0">
                <a:latin typeface="Arial"/>
                <a:cs typeface="Arial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(X94–X99 topical courses are excluded)</a:t>
            </a: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itchFamily="2" charset="2"/>
              <a:buChar char="q"/>
            </a:pPr>
            <a:r>
              <a:rPr lang="en-US" altLang="en-US" sz="2000">
                <a:latin typeface="Arial"/>
                <a:cs typeface="Arial"/>
              </a:rPr>
              <a:t>Courses Cross-Listed in the bulletin can be used as well. </a:t>
            </a:r>
            <a:endParaRPr lang="en-US" altLang="en-US"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9092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0E7B8-542A-5914-3605-F9C352427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799455"/>
            <a:ext cx="9601200" cy="849630"/>
          </a:xfrm>
        </p:spPr>
        <p:txBody>
          <a:bodyPr/>
          <a:lstStyle/>
          <a:p>
            <a:r>
              <a:rPr lang="en-US" sz="4400" dirty="0"/>
              <a:t>How to submit a request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62B9C97-2760-4CC7-1BF2-F8F80F9CB55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66800" y="2114437"/>
            <a:ext cx="9461501" cy="3266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b="1">
                <a:latin typeface="Arial"/>
                <a:cs typeface="Arial"/>
              </a:rPr>
              <a:t>It is good practice to talk to your Academic Advisor before making </a:t>
            </a:r>
            <a:r>
              <a:rPr lang="en-US" altLang="en-US" sz="2000" b="1" dirty="0">
                <a:latin typeface="Arial"/>
                <a:cs typeface="Arial"/>
              </a:rPr>
              <a:t>a request</a:t>
            </a:r>
            <a:endParaRPr lang="en-US" altLang="en-US" sz="2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1E407C"/>
              </a:buClr>
              <a:buFont typeface="Wingdings,Sans-Serif" pitchFamily="2" charset="2"/>
              <a:buChar char="q"/>
            </a:pPr>
            <a:r>
              <a:rPr lang="en-US" sz="2000" dirty="0">
                <a:latin typeface="Arial"/>
                <a:cs typeface="Arial"/>
              </a:rPr>
              <a:t>Go to </a:t>
            </a:r>
            <a:r>
              <a:rPr lang="en-US" sz="2000" b="1" dirty="0" err="1">
                <a:latin typeface="Arial"/>
                <a:cs typeface="Arial"/>
              </a:rPr>
              <a:t>LionPATH</a:t>
            </a:r>
            <a:endParaRPr lang="en-US" sz="2000" dirty="0" err="1">
              <a:latin typeface="Arial"/>
              <a:cs typeface="Arial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Center →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Academic Records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Grade Forgiveness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Confirm you have read/agree to the procedure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the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repeated course (better grade)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the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original D/F course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be forgiven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Submit (you’ll receive email confirmation and an email when approved)</a:t>
            </a:r>
            <a:endParaRPr lang="en-US" altLang="en-US" sz="20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8721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F1A8C-21AE-F6BF-42A9-F8D0AC7777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899161"/>
            <a:ext cx="9601200" cy="1032510"/>
          </a:xfrm>
        </p:spPr>
        <p:txBody>
          <a:bodyPr/>
          <a:lstStyle/>
          <a:p>
            <a:r>
              <a:rPr lang="en-US" sz="4400"/>
              <a:t>Who to contact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C58BE4-785E-E0D2-9935-AB198A6AB9D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92015" y="2379649"/>
            <a:ext cx="11393312" cy="165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Your academic adviser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(recommended before repeating / submitting)</a:t>
            </a:r>
            <a:endParaRPr lang="en-US" altLang="en-US" sz="26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Office of Student Aid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 campus representative (if you receive financial aid)</a:t>
            </a:r>
            <a:endParaRPr lang="en-US" altLang="en-US" sz="2600" b="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q"/>
              <a:tabLst/>
            </a:pPr>
            <a:endParaRPr lang="en-US" altLang="en-US" sz="1800" i="0" u="none" strike="noStrike" cap="none" normalizeH="0" baseline="0">
              <a:ln>
                <a:noFill/>
              </a:ln>
              <a:solidFill>
                <a:srgbClr val="2626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568077"/>
      </p:ext>
    </p:extLst>
  </p:cSld>
  <p:clrMapOvr>
    <a:masterClrMapping/>
  </p:clrMapOvr>
</p:sld>
</file>

<file path=ppt/theme/theme1.xml><?xml version="1.0" encoding="utf-8"?>
<a:theme xmlns:a="http://schemas.openxmlformats.org/drawingml/2006/main" name="PSU Corner Shield Basic Theme">
  <a:themeElements>
    <a:clrScheme name="PSU Base Color Theme">
      <a:dk1>
        <a:srgbClr val="262626"/>
      </a:dk1>
      <a:lt1>
        <a:srgbClr val="FFFFFF"/>
      </a:lt1>
      <a:dk2>
        <a:srgbClr val="1E407C"/>
      </a:dk2>
      <a:lt2>
        <a:srgbClr val="CCF0FF"/>
      </a:lt2>
      <a:accent1>
        <a:srgbClr val="009CDE"/>
      </a:accent1>
      <a:accent2>
        <a:srgbClr val="1E407C"/>
      </a:accent2>
      <a:accent3>
        <a:srgbClr val="A2AAAD"/>
      </a:accent3>
      <a:accent4>
        <a:srgbClr val="96BEE6"/>
      </a:accent4>
      <a:accent5>
        <a:srgbClr val="3EA39E"/>
      </a:accent5>
      <a:accent6>
        <a:srgbClr val="304D64"/>
      </a:accent6>
      <a:hlink>
        <a:srgbClr val="005FA9"/>
      </a:hlink>
      <a:folHlink>
        <a:srgbClr val="AC8DC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cmpd="sng">
          <a:solidFill>
            <a:schemeClr val="tx2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_Corner-Shield_v03-02.pptx" id="{199CED2F-3E11-A249-A8A0-371F2253AE5A}" vid="{7D869A32-DE16-724D-AC64-F2155F6B84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4867D4D53E3D4DAEB8A24C74DE7595" ma:contentTypeVersion="3" ma:contentTypeDescription="Create a new document." ma:contentTypeScope="" ma:versionID="3682823a42a5037a20b4851e1f905552">
  <xsd:schema xmlns:xsd="http://www.w3.org/2001/XMLSchema" xmlns:xs="http://www.w3.org/2001/XMLSchema" xmlns:p="http://schemas.microsoft.com/office/2006/metadata/properties" xmlns:ns2="4d9f6107-874f-496d-bf21-da0a2196cbef" targetNamespace="http://schemas.microsoft.com/office/2006/metadata/properties" ma:root="true" ma:fieldsID="a6d4a9a2f336a5f2c1f9600babab959a" ns2:_="">
    <xsd:import namespace="4d9f6107-874f-496d-bf21-da0a2196cb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9f6107-874f-496d-bf21-da0a2196cb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3C83BC7-AE5F-43EE-B82C-5758B69134B6}">
  <ds:schemaRefs>
    <ds:schemaRef ds:uri="28f5b418-f2c1-4a16-8283-c5ed56dbb9cc"/>
    <ds:schemaRef ds:uri="3c8fd356-1280-4d00-a910-3bff90828a90"/>
    <ds:schemaRef ds:uri="542b8847-f5d4-4c9f-bd30-657d16e5db1d"/>
    <ds:schemaRef ds:uri="c7c738f6-68ec-422e-b0e4-3523873f7ad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D3C5FBF-CEB1-4F21-9D6B-FCB7D4B4E0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244AE3E-F630-41AC-8C9A-E5B14351AB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9f6107-874f-496d-bf21-da0a2196cb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PSU Corner Shield Basic Theme</Template>
  <Application>Microsoft Office PowerPoint</Application>
  <PresentationFormat>Widescreen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PSU Corner Shield Basic Theme</vt:lpstr>
      <vt:lpstr>Undergraduate Grade Forgiveness (H-2)</vt:lpstr>
      <vt:lpstr>Grade Forgiveness</vt:lpstr>
      <vt:lpstr>Requirements and limits</vt:lpstr>
      <vt:lpstr>When you cannot use grade forgiveness</vt:lpstr>
      <vt:lpstr>How to submit a request</vt:lpstr>
      <vt:lpstr>Who to contact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MacBeth, Cora Elaine</dc:creator>
  <cp:keywords>basic, brand, layout, Penn State, PowerPoint, presentation, template</cp:keywords>
  <dc:description/>
  <cp:revision>43</cp:revision>
  <cp:lastPrinted>2025-07-22T15:00:44Z</cp:lastPrinted>
  <dcterms:created xsi:type="dcterms:W3CDTF">2025-08-19T17:33:44Z</dcterms:created>
  <dcterms:modified xsi:type="dcterms:W3CDTF">2026-03-31T16:02:33Z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0x010100964867D4D53E3D4DAEB8A24C74DE7595</vt:lpwstr>
  </property>
  <property fmtid="{D5CDD505-2E9C-101B-9397-08002B2CF9AE}" pid="3" name="MediaServiceImageTags">
    <vt:lpwstr/>
  </property>
  <property fmtid="{D5CDD505-2E9C-101B-9397-08002B2CF9AE}" pid="4" name="Version">
    <vt:lpwstr>3.2</vt:lpwstr>
  </property>
</Properties>
</file>
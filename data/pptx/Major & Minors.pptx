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D6_2CE509DF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CD_9686E2C6.xml" ContentType="application/vnd.ms-powerpoint.comments+xml"/>
  <Override PartName="/ppt/comments/modernComment_1D7_BB68DE4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4" r:id="rId5"/>
    <p:sldId id="463" r:id="rId6"/>
    <p:sldId id="470" r:id="rId7"/>
    <p:sldId id="446" r:id="rId8"/>
    <p:sldId id="472" r:id="rId9"/>
    <p:sldId id="461" r:id="rId10"/>
    <p:sldId id="4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BF6859-9FA1-62DD-4F02-7D11BC70D054}" name="Nakkella, Samyan" initials="NS" userId="S::ssn5256@psu.edu::0d41256c-431f-4c15-a6e8-b8fdd71793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BEE6"/>
    <a:srgbClr val="FFFFFF"/>
    <a:srgbClr val="009CDE"/>
    <a:srgbClr val="FFD200"/>
    <a:srgbClr val="1E407C"/>
    <a:srgbClr val="25324A"/>
    <a:srgbClr val="F0F0F0"/>
    <a:srgbClr val="000000"/>
    <a:srgbClr val="A3AAAE"/>
    <a:srgbClr val="C7C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DA471-E1D9-B4BD-8CF5-E6D19539429B}" v="83" dt="2026-03-31T16:10:32.746"/>
  </p1510:revLst>
</p1510:revInfo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kkella, Samyan" userId="S::ssn5256@psu.edu::0d41256c-431f-4c15-a6e8-b8fdd7179362" providerId="AD" clId="Web-{32BDA471-E1D9-B4BD-8CF5-E6D19539429B}"/>
    <pc:docChg chg="modSld">
      <pc:chgData name="Nakkella, Samyan" userId="S::ssn5256@psu.edu::0d41256c-431f-4c15-a6e8-b8fdd7179362" providerId="AD" clId="Web-{32BDA471-E1D9-B4BD-8CF5-E6D19539429B}" dt="2026-03-31T16:07:46.089" v="79" actId="20577"/>
      <pc:docMkLst>
        <pc:docMk/>
      </pc:docMkLst>
      <pc:sldChg chg="modSp">
        <pc:chgData name="Nakkella, Samyan" userId="S::ssn5256@psu.edu::0d41256c-431f-4c15-a6e8-b8fdd7179362" providerId="AD" clId="Web-{32BDA471-E1D9-B4BD-8CF5-E6D19539429B}" dt="2026-03-31T16:05:42.276" v="3" actId="20577"/>
        <pc:sldMkLst>
          <pc:docMk/>
          <pc:sldMk cId="856214486" sldId="446"/>
        </pc:sldMkLst>
        <pc:spChg chg="mod">
          <ac:chgData name="Nakkella, Samyan" userId="S::ssn5256@psu.edu::0d41256c-431f-4c15-a6e8-b8fdd7179362" providerId="AD" clId="Web-{32BDA471-E1D9-B4BD-8CF5-E6D19539429B}" dt="2026-03-31T16:05:42.276" v="3" actId="20577"/>
          <ac:spMkLst>
            <pc:docMk/>
            <pc:sldMk cId="856214486" sldId="446"/>
            <ac:spMk id="3" creationId="{E69D64B4-B053-E6AC-8301-90D83C473C86}"/>
          </ac:spMkLst>
        </pc:spChg>
      </pc:sldChg>
      <pc:sldChg chg="modSp">
        <pc:chgData name="Nakkella, Samyan" userId="S::ssn5256@psu.edu::0d41256c-431f-4c15-a6e8-b8fdd7179362" providerId="AD" clId="Web-{32BDA471-E1D9-B4BD-8CF5-E6D19539429B}" dt="2026-03-31T16:07:46.089" v="79" actId="20577"/>
        <pc:sldMkLst>
          <pc:docMk/>
          <pc:sldMk cId="1624616364" sldId="472"/>
        </pc:sldMkLst>
        <pc:spChg chg="mod">
          <ac:chgData name="Nakkella, Samyan" userId="S::ssn5256@psu.edu::0d41256c-431f-4c15-a6e8-b8fdd7179362" providerId="AD" clId="Web-{32BDA471-E1D9-B4BD-8CF5-E6D19539429B}" dt="2026-03-31T16:07:46.089" v="79" actId="20577"/>
          <ac:spMkLst>
            <pc:docMk/>
            <pc:sldMk cId="1624616364" sldId="472"/>
            <ac:spMk id="3" creationId="{E2D173E2-7DE0-2D07-5B57-DD4083A27BAF}"/>
          </ac:spMkLst>
        </pc:spChg>
      </pc:sldChg>
    </pc:docChg>
  </pc:docChgLst>
</pc:chgInfo>
</file>

<file path=ppt/comments/modernComment_1CD_9686E2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13B0CF-10F9-4EFF-8C64-FB610C965AD8}" authorId="{3CBF6859-9FA1-62DD-4F02-7D11BC70D054}" created="2026-02-17T17:15:37.913">
    <pc:sldMkLst xmlns:pc="http://schemas.microsoft.com/office/powerpoint/2013/main/command">
      <pc:docMk/>
      <pc:sldMk cId="2525422278" sldId="461"/>
    </pc:sldMkLst>
    <p188:txBody>
      <a:bodyPr/>
      <a:lstStyle/>
      <a:p>
        <a:r>
          <a:rPr lang="en-US"/>
          <a:t>Should we take out this slide?</a:t>
        </a:r>
      </a:p>
    </p188:txBody>
  </p188:cm>
  <p188:cm id="{64120F79-9E8A-47F2-BFB8-A129E1823516}" authorId="{3CBF6859-9FA1-62DD-4F02-7D11BC70D054}" created="2026-03-31T16:10:16.073">
    <pc:sldMkLst xmlns:pc="http://schemas.microsoft.com/office/powerpoint/2013/main/command">
      <pc:docMk/>
      <pc:sldMk cId="2525422278" sldId="461"/>
    </pc:sldMkLst>
    <p188:txBody>
      <a:bodyPr/>
      <a:lstStyle/>
      <a:p>
        <a:r>
          <a:rPr lang="en-US"/>
          <a:t>put jeffs contact info here (cs at branch campuses)</a:t>
        </a:r>
      </a:p>
    </p188:txBody>
  </p188:cm>
</p188:cmLst>
</file>

<file path=ppt/comments/modernComment_1D6_2CE509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CAFA90-A57B-4BC2-91D1-0DE3648C4F23}" authorId="{3CBF6859-9FA1-62DD-4F02-7D11BC70D054}" created="2026-03-31T16:05:27.229">
    <pc:sldMkLst xmlns:pc="http://schemas.microsoft.com/office/powerpoint/2013/main/command">
      <pc:docMk/>
      <pc:sldMk cId="753207775" sldId="470"/>
    </pc:sldMkLst>
    <p188:txBody>
      <a:bodyPr/>
      <a:lstStyle/>
      <a:p>
        <a:r>
          <a:rPr lang="en-US"/>
          <a:t>include steps to find it in lionpath instead of including this link</a:t>
        </a:r>
      </a:p>
    </p188:txBody>
  </p188:cm>
</p188:cmLst>
</file>

<file path=ppt/comments/modernComment_1D7_BB68DE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50276E-ED7B-4D87-A296-9FAF9B85B1BF}" authorId="{3CBF6859-9FA1-62DD-4F02-7D11BC70D054}" created="2026-03-31T16:10:32.746">
    <pc:sldMkLst xmlns:pc="http://schemas.microsoft.com/office/powerpoint/2013/main/command">
      <pc:docMk/>
      <pc:sldMk cId="3144212032" sldId="471"/>
    </pc:sldMkLst>
    <p188:txBody>
      <a:bodyPr/>
      <a:lstStyle/>
      <a:p>
        <a:r>
          <a:rPr lang="en-US"/>
          <a:t>link to list of campus registrars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42AEA1-A4D9-0CCB-F45A-B1E1439F1A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4A58F-8F56-AC2F-BF1F-CC6DC677BC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C506B-9C0A-7C42-AABC-F7A7C632EC5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B37E-160B-D909-0FF9-07D0690CDC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8ED66-3D76-AA61-3811-390722B429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79E4A-7233-C749-8BF5-78FC642D4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74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9AC51-1594-3C45-9820-82036BC34A3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9D638-7D78-EA4A-A05B-01174BE0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6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5885-7F30-0860-3B73-6AA97B96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8C392-1A14-DC35-F50C-70AA57C5B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B32C2-6BBB-5F8B-C649-4DCB72BA3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56EFC-D0F0-57FA-DAC0-368566DBA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11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0E67-19F7-AF3D-48FD-F963681A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CE0A4-47AB-A5B7-DFA5-B1917DF8B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60096-EEB1-3A35-0BB6-217191719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459F-92A8-E54F-406A-00DEC6323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55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07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433F-4DF2-FC03-C9FE-3EA62E71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13661-C6E9-6485-1946-24F654029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AE743-A257-1355-527D-492D147E6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5C2EA-BF1C-2027-9F9D-2049BF8CD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0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ommCnrShld Graphic">
            <a:extLst>
              <a:ext uri="{FF2B5EF4-FFF2-40B4-BE49-F238E27FC236}">
                <a16:creationId xmlns:a16="http://schemas.microsoft.com/office/drawing/2014/main" id="{F373BAED-49B4-A922-D2DD-83B86D824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3" name="Corner Shield Shape Right">
              <a:extLst>
                <a:ext uri="{FF2B5EF4-FFF2-40B4-BE49-F238E27FC236}">
                  <a16:creationId xmlns:a16="http://schemas.microsoft.com/office/drawing/2014/main" id="{86A60D22-4897-D628-2F4B-29E49B076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4" name="Comm Shield Corner">
              <a:extLst>
                <a:ext uri="{FF2B5EF4-FFF2-40B4-BE49-F238E27FC236}">
                  <a16:creationId xmlns:a16="http://schemas.microsoft.com/office/drawing/2014/main" id="{6907CFA7-DA25-9315-C431-0372EFB1D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6EFBB5-30AC-C871-D426-6A0BE13F7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90600"/>
            <a:ext cx="9601200" cy="251936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EB8D-C5EF-C32E-D8C7-15E1792F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2038"/>
            <a:ext cx="9601200" cy="1274762"/>
          </a:xfr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EBBAE-C4A0-F2D9-A43F-328BD416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4D83A44C-8064-3F47-951D-EE74B1CE44B9}" type="datetime1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318BB-68AB-F92B-99D2-699E766B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2ACF-01D0-F003-D6CD-197BC00E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79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ommCnrShld Graphic">
            <a:extLst>
              <a:ext uri="{FF2B5EF4-FFF2-40B4-BE49-F238E27FC236}">
                <a16:creationId xmlns:a16="http://schemas.microsoft.com/office/drawing/2014/main" id="{67AFFE4C-AD09-A4B4-266D-0CDBFC24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1" name="Corner Shield Shape Right">
              <a:extLst>
                <a:ext uri="{FF2B5EF4-FFF2-40B4-BE49-F238E27FC236}">
                  <a16:creationId xmlns:a16="http://schemas.microsoft.com/office/drawing/2014/main" id="{49D02B88-1226-677B-BE20-324F0F9CB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2" name="Comm Shield Corner">
              <a:extLst>
                <a:ext uri="{FF2B5EF4-FFF2-40B4-BE49-F238E27FC236}">
                  <a16:creationId xmlns:a16="http://schemas.microsoft.com/office/drawing/2014/main" id="{D6679DDB-1E63-F5D0-55BF-F77DEE0E6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DA0D94-A5D8-A033-57AC-B05EF01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37657"/>
            <a:ext cx="9677400" cy="2743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5B9B-B0BE-4DBF-1904-4FDEF848F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590393"/>
            <a:ext cx="8228013" cy="12008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AE21E-52C8-F0D8-877A-7F63F8DE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D3B27A41-27B9-E448-9F3A-69E294D7051D}" type="datetime1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F391-6A8E-3DD1-AA3E-099C67E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38E9-4BAB-5563-88CD-156F06F9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22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E763-F41D-F991-1AB4-82B8D57342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slide title, key point, or 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6128-8A19-FE3B-2DAF-0406DB5038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66800" y="1825625"/>
            <a:ext cx="10056813" cy="3736975"/>
          </a:xfrm>
        </p:spPr>
        <p:txBody>
          <a:bodyPr/>
          <a:lstStyle>
            <a:lvl2pPr marL="777240" indent="-182880">
              <a:defRPr/>
            </a:lvl2pPr>
          </a:lstStyle>
          <a:p>
            <a:pPr marL="201168" marR="0" lvl="0" indent="-201168" algn="l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BDCF0-7468-FACC-ACE3-74245710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B02E-A76A-D543-896B-0002B4A60318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55521-2464-763C-14E3-1546CCD6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F393-FA98-BA11-DB7E-F32E606F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787D-E2BC-F3FE-5703-A9932B98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4114800" cy="2679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8DDE-3683-969F-02EF-973A709694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676275"/>
            <a:ext cx="6399212" cy="4586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2CB31-00D3-E20B-B087-8ADEFEF73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429000"/>
            <a:ext cx="4114800" cy="22860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A5B58-8500-964C-1BC6-DA163AB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D83B-FBE8-6341-9B65-B8DF7340B97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413BC-AAC0-9E6D-3C7D-EC459FA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21EAB-7603-CF08-3D09-C89AAFB4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4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E1FC-5694-8B89-C491-7BA53E35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613" y="762000"/>
            <a:ext cx="472598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D286-2952-5BB3-594A-BF27B94849A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1" y="990600"/>
            <a:ext cx="5486400" cy="4298899"/>
          </a:xfrm>
          <a:noFill/>
          <a:effectLst/>
        </p:spPr>
        <p:txBody>
          <a:bodyPr tIns="36576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below to add picture. </a:t>
            </a:r>
            <a:br>
              <a:rPr lang="en-US"/>
            </a:br>
            <a:r>
              <a:rPr lang="en-US"/>
              <a:t>To crop the picture, click Crop on the Picture Tools tab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B9431-C3FE-7CB8-8A4E-11841E03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613" y="3048000"/>
            <a:ext cx="4572000" cy="2241499"/>
          </a:xfrm>
        </p:spPr>
        <p:txBody>
          <a:bodyPr anchor="b" anchorCtr="0">
            <a:normAutofit/>
          </a:bodyPr>
          <a:lstStyle>
            <a:lvl1pPr marL="0" indent="0">
              <a:buClr>
                <a:schemeClr val="accent1"/>
              </a:buClr>
              <a:buSzPct val="120000"/>
              <a:buFont typeface="System Font Regular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E0845-C3A7-6E8F-5C61-5E11CF4C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2E21-6626-7F48-BD7E-E9F69B4CC986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0A072-5CE9-D9EB-FA5A-347D0DC3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6F95E-8EB8-15D7-077A-28ED3EBB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4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FC1A-8AA3-1F3A-309D-65B86EB5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BC937-51C8-A943-FFC9-D9B57CEB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F7B2-6D0C-1749-99C8-CF428F75A01C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B8A71-9225-7CD8-1C83-DBBDBCDC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5A8CB-332D-9515-5CFE-8172E869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07C2-6D9C-BF04-E789-5975B362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5318-746A-F1C9-9F76-E0E02D493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25625"/>
            <a:ext cx="5029200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F21F-1339-03C9-C6C8-52CF6F85F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1766" y="1825625"/>
            <a:ext cx="5029201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BD777-E1ED-B7BD-D234-FBA2A93D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2C91-2BFC-A04F-9296-2B99B3ED0817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BCB7D-2D1A-A8C3-18BF-F19BD4A6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1049C-0A42-1626-E4CB-C9416DAB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0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E5F2-E07D-49A5-45D2-61A59E6F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006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D649B-7DD0-707F-0286-3C79FF008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331" y="1421607"/>
            <a:ext cx="5026025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E628A-8E78-3092-8EEC-BCD0443E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331" y="2245519"/>
            <a:ext cx="5026025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09B32-F927-21F8-6DB7-B78B0048D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7645" y="1421607"/>
            <a:ext cx="503316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E6394-88A7-A6AA-0283-D80CBBB03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7645" y="2245519"/>
            <a:ext cx="5033168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32CFC-E655-92D0-91E5-1D2C643C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1133-C6F7-A54C-B4F9-F574FC8B44CF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D39A2-B6C2-50DB-DA1C-26525AE1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E5A19-DEF8-8A75-0CA7-231B9280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3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B92D9-0B28-E637-181B-4BD4F8C5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7659-B258-5942-BADA-20CC774035A0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54192-2427-0DC8-0EAA-A64403D9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13789-D139-DD4C-0551-12E374CD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525F-0A3B-0A82-FBA8-69CEB60A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726D1-60B7-13F2-745F-8628A92E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964F2-ED7E-FB0A-F2FC-34613DC9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F8AD4-0A8D-1942-AD91-7D3C5A1D73BF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10DB-DBB4-3D40-4773-A7EC1479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E995-CC29-4AFA-CB27-CF08B1F5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6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8F61B-E0C1-9CF0-2B16-FE8B941EC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DFCD1-4F9D-5A79-22BB-572B3A36F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F889-A890-6F2D-CE9F-A7EAED63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1F17A-2A7E-764E-8194-BD617B10743D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5AB35-9A8B-4638-DC3C-9A106845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9216-C74A-2574-5A1E-6232E83E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0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CommCnrShld">
            <a:extLst>
              <a:ext uri="{FF2B5EF4-FFF2-40B4-BE49-F238E27FC236}">
                <a16:creationId xmlns:a16="http://schemas.microsoft.com/office/drawing/2014/main" id="{1618A93B-3E0D-4C69-C17E-DF520880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550401" y="3688081"/>
            <a:ext cx="2641599" cy="3169919"/>
            <a:chOff x="9550401" y="3688081"/>
            <a:chExt cx="2641599" cy="3169919"/>
          </a:xfrm>
        </p:grpSpPr>
        <p:sp>
          <p:nvSpPr>
            <p:cNvPr id="20" name="Corner Shield Shape Right">
              <a:extLst>
                <a:ext uri="{FF2B5EF4-FFF2-40B4-BE49-F238E27FC236}">
                  <a16:creationId xmlns:a16="http://schemas.microsoft.com/office/drawing/2014/main" id="{B7ECB6A5-D104-7FF6-DCD8-4B1AE2FA2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21" name="Comm Shield Corner">
              <a:extLst>
                <a:ext uri="{FF2B5EF4-FFF2-40B4-BE49-F238E27FC236}">
                  <a16:creationId xmlns:a16="http://schemas.microsoft.com/office/drawing/2014/main" id="{70B461F0-4C10-DA44-2A54-6677C5265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A061B-E2D0-062A-8997-8B6BC4A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2739-D66F-AA7A-6920-E8A8EA468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93851"/>
            <a:ext cx="10972800" cy="41973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654C-F683-C04E-AC9E-E1AB426C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413" y="5943600"/>
            <a:ext cx="3089211" cy="914400"/>
          </a:xfrm>
          <a:prstGeom prst="rect">
            <a:avLst/>
          </a:prstGeom>
        </p:spPr>
        <p:txBody>
          <a:bodyPr vert="horz" lIns="91440" tIns="265176" rIns="1005840" bIns="91440" rtlCol="0" anchor="t" anchorCtr="0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fld id="{9E944EA1-8BCD-964C-87E6-31892231A579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EAB10-171B-90F2-7CFE-E58935A2E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4388" y="5943600"/>
            <a:ext cx="5026025" cy="914400"/>
          </a:xfrm>
          <a:prstGeom prst="rect">
            <a:avLst/>
          </a:prstGeom>
        </p:spPr>
        <p:txBody>
          <a:bodyPr vert="horz" lIns="548640" tIns="265176" rIns="182880" bIns="91440" rtlCol="0" anchor="t" anchorCtr="0"/>
          <a:lstStyle>
            <a:lvl1pPr algn="l">
              <a:defRPr sz="1600" b="0" i="0">
                <a:solidFill>
                  <a:schemeClr val="tx2"/>
                </a:solidFill>
                <a:latin typeface="+mn-lt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1D52-E2F8-EB1B-5C28-22BEBDFE9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9624" y="5943600"/>
            <a:ext cx="722376" cy="914400"/>
          </a:xfrm>
          <a:prstGeom prst="rect">
            <a:avLst/>
          </a:prstGeom>
        </p:spPr>
        <p:txBody>
          <a:bodyPr vert="horz" lIns="91440" tIns="265176" rIns="91440" bIns="91440" rtlCol="0" anchor="t" anchorCtr="0"/>
          <a:lstStyle>
            <a:lvl1pPr algn="ctr">
              <a:defRPr sz="1600" b="1" i="0">
                <a:solidFill>
                  <a:srgbClr val="F0F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4" name="Penn State Mark on Light BG" descr="Penn State University mark">
            <a:extLst>
              <a:ext uri="{FF2B5EF4-FFF2-40B4-BE49-F238E27FC236}">
                <a16:creationId xmlns:a16="http://schemas.microsoft.com/office/drawing/2014/main" id="{4FF244CC-1E2C-0F93-5B63-C9B4115A94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493044" y="6013529"/>
            <a:ext cx="1709112" cy="7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5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2" r:id="rId3"/>
    <p:sldLayoutId id="2147483656" r:id="rId4"/>
    <p:sldLayoutId id="2147483657" r:id="rId5"/>
    <p:sldLayoutId id="2147483675" r:id="rId6"/>
    <p:sldLayoutId id="2147483673" r:id="rId7"/>
    <p:sldLayoutId id="2147483674" r:id="rId8"/>
    <p:sldLayoutId id="2147483655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914400" rtl="0" eaLnBrk="1" latinLnBrk="0" hangingPunct="1">
        <a:lnSpc>
          <a:spcPct val="90000"/>
        </a:lnSpc>
        <a:spcBef>
          <a:spcPts val="2000"/>
        </a:spcBef>
        <a:buClr>
          <a:schemeClr val="tx2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137160" algn="l" defTabSz="914400" rtl="0" eaLnBrk="1" latinLnBrk="0" hangingPunct="1">
        <a:lnSpc>
          <a:spcPct val="90000"/>
        </a:lnSpc>
        <a:spcBef>
          <a:spcPts val="11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1732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6596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2B7E6"/>
          </p15:clr>
        </p15:guide>
        <p15:guide id="2" pos="7680" userDrawn="1">
          <p15:clr>
            <a:srgbClr val="A2B7E6"/>
          </p15:clr>
        </p15:guide>
        <p15:guide id="3" pos="384" userDrawn="1">
          <p15:clr>
            <a:srgbClr val="A2B7E6"/>
          </p15:clr>
        </p15:guide>
        <p15:guide id="4" pos="672" userDrawn="1">
          <p15:clr>
            <a:srgbClr val="A2B7E6"/>
          </p15:clr>
        </p15:guide>
        <p15:guide id="5" pos="960" userDrawn="1">
          <p15:clr>
            <a:srgbClr val="A2B7E6"/>
          </p15:clr>
        </p15:guide>
        <p15:guide id="6" pos="1248" userDrawn="1">
          <p15:clr>
            <a:srgbClr val="A2B7E6"/>
          </p15:clr>
        </p15:guide>
        <p15:guide id="7" pos="1536" userDrawn="1">
          <p15:clr>
            <a:srgbClr val="A2B7E6"/>
          </p15:clr>
        </p15:guide>
        <p15:guide id="8" pos="1824" userDrawn="1">
          <p15:clr>
            <a:srgbClr val="A2B7E6"/>
          </p15:clr>
        </p15:guide>
        <p15:guide id="9" pos="2112" userDrawn="1">
          <p15:clr>
            <a:srgbClr val="A2B7E6"/>
          </p15:clr>
        </p15:guide>
        <p15:guide id="10" pos="2400" userDrawn="1">
          <p15:clr>
            <a:srgbClr val="A2B7E6"/>
          </p15:clr>
        </p15:guide>
        <p15:guide id="11" pos="2688" userDrawn="1">
          <p15:clr>
            <a:srgbClr val="A2B7E6"/>
          </p15:clr>
        </p15:guide>
        <p15:guide id="12" pos="2976" userDrawn="1">
          <p15:clr>
            <a:srgbClr val="A2B7E6"/>
          </p15:clr>
        </p15:guide>
        <p15:guide id="13" pos="3264" userDrawn="1">
          <p15:clr>
            <a:srgbClr val="A2B7E6"/>
          </p15:clr>
        </p15:guide>
        <p15:guide id="14" pos="3552" userDrawn="1">
          <p15:clr>
            <a:srgbClr val="A2B7E6"/>
          </p15:clr>
        </p15:guide>
        <p15:guide id="15" pos="3840" userDrawn="1">
          <p15:clr>
            <a:srgbClr val="A2B7E6"/>
          </p15:clr>
        </p15:guide>
        <p15:guide id="16" pos="4127" userDrawn="1">
          <p15:clr>
            <a:srgbClr val="A2B7E6"/>
          </p15:clr>
        </p15:guide>
        <p15:guide id="17" pos="4415" userDrawn="1">
          <p15:clr>
            <a:srgbClr val="A2B7E6"/>
          </p15:clr>
        </p15:guide>
        <p15:guide id="18" pos="4703" userDrawn="1">
          <p15:clr>
            <a:srgbClr val="A2B7E6"/>
          </p15:clr>
        </p15:guide>
        <p15:guide id="19" pos="4991" userDrawn="1">
          <p15:clr>
            <a:srgbClr val="A2B7E6"/>
          </p15:clr>
        </p15:guide>
        <p15:guide id="20" pos="5279" userDrawn="1">
          <p15:clr>
            <a:srgbClr val="A2B7E6"/>
          </p15:clr>
        </p15:guide>
        <p15:guide id="21" pos="5567" userDrawn="1">
          <p15:clr>
            <a:srgbClr val="A2B7E6"/>
          </p15:clr>
        </p15:guide>
        <p15:guide id="22" pos="5855" userDrawn="1">
          <p15:clr>
            <a:srgbClr val="A2B7E6"/>
          </p15:clr>
        </p15:guide>
        <p15:guide id="23" pos="6144" userDrawn="1">
          <p15:clr>
            <a:srgbClr val="A2B7E6"/>
          </p15:clr>
        </p15:guide>
        <p15:guide id="24" pos="6431" userDrawn="1">
          <p15:clr>
            <a:srgbClr val="A2B7E6"/>
          </p15:clr>
        </p15:guide>
        <p15:guide id="25" pos="6719" userDrawn="1">
          <p15:clr>
            <a:srgbClr val="A2B7E6"/>
          </p15:clr>
        </p15:guide>
        <p15:guide id="26" pos="7007" userDrawn="1">
          <p15:clr>
            <a:srgbClr val="A2B7E6"/>
          </p15:clr>
        </p15:guide>
        <p15:guide id="27" pos="7295" userDrawn="1">
          <p15:clr>
            <a:srgbClr val="A2B7E6"/>
          </p15:clr>
        </p15:guide>
        <p15:guide id="28" orient="horz" userDrawn="1">
          <p15:clr>
            <a:srgbClr val="A2B7E6"/>
          </p15:clr>
        </p15:guide>
        <p15:guide id="29" orient="horz" pos="4320" userDrawn="1">
          <p15:clr>
            <a:srgbClr val="A2B7E6"/>
          </p15:clr>
        </p15:guide>
        <p15:guide id="30" orient="horz" pos="426" userDrawn="1">
          <p15:clr>
            <a:srgbClr val="A2B7E6"/>
          </p15:clr>
        </p15:guide>
        <p15:guide id="31" orient="horz" pos="1004" userDrawn="1">
          <p15:clr>
            <a:srgbClr val="A2B7E6"/>
          </p15:clr>
        </p15:guide>
        <p15:guide id="32" orient="horz" pos="1582" userDrawn="1">
          <p15:clr>
            <a:srgbClr val="A2B7E6"/>
          </p15:clr>
        </p15:guide>
        <p15:guide id="33" orient="horz" pos="2160" userDrawn="1">
          <p15:clr>
            <a:srgbClr val="A2B7E6"/>
          </p15:clr>
        </p15:guide>
        <p15:guide id="34" orient="horz" pos="2737" userDrawn="1">
          <p15:clr>
            <a:srgbClr val="A2B7E6"/>
          </p15:clr>
        </p15:guide>
        <p15:guide id="35" orient="horz" pos="3315" userDrawn="1">
          <p15:clr>
            <a:srgbClr val="A2B7E6"/>
          </p15:clr>
        </p15:guide>
        <p15:guide id="36" orient="horz" pos="3893" userDrawn="1">
          <p15:clr>
            <a:srgbClr val="A2B7E6"/>
          </p15:clr>
        </p15:guide>
        <p15:guide id="37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6_2CE509DF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ublic.lionpath.psu.edu/psp/CSPRD/EMPLOYEE/SA/h/?tab=PE_PT_NVT_FL_PUB_CLS_SRCH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gistrar.psu.edu/student-forms/drop-add.cf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D_9686E2C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registrar.psu.edu/contact/campus-registrar-directory.cfm" TargetMode="External"/><Relationship Id="rId4" Type="http://schemas.openxmlformats.org/officeDocument/2006/relationships/hyperlink" Target="https://registrar.psu.edu/registration/department-contacts-course-controls.cf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ar.psu.edu/registration/adding-dropping-auditing-courses.cfm" TargetMode="External"/><Relationship Id="rId2" Type="http://schemas.microsoft.com/office/2018/10/relationships/comments" Target="../comments/modernComment_1D7_BB68DE40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esc@ps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2308-0E50-8ADA-7E87-DA529A587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0"/>
            <a:ext cx="10363200" cy="4688681"/>
          </a:xfrm>
        </p:spPr>
        <p:txBody>
          <a:bodyPr anchor="b">
            <a:noAutofit/>
          </a:bodyPr>
          <a:lstStyle/>
          <a:p>
            <a:r>
              <a:rPr lang="en-US" sz="8800"/>
              <a:t>Late adding credits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878C3-F16B-E672-8DFE-29E069EBE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780756"/>
            <a:ext cx="9601200" cy="1274762"/>
          </a:xfrm>
        </p:spPr>
        <p:txBody>
          <a:bodyPr>
            <a:normAutofit/>
          </a:bodyPr>
          <a:lstStyle/>
          <a:p>
            <a:r>
              <a:rPr lang="en-US"/>
              <a:t>A Guide for Students</a:t>
            </a:r>
          </a:p>
        </p:txBody>
      </p:sp>
      <p:sp>
        <p:nvSpPr>
          <p:cNvPr id="9" name="Rectangle 8" descr="Rectangle shape labeled “Basic”">
            <a:extLst>
              <a:ext uri="{FF2B5EF4-FFF2-40B4-BE49-F238E27FC236}">
                <a16:creationId xmlns:a16="http://schemas.microsoft.com/office/drawing/2014/main" id="{D47FDAB2-75FF-DAA9-67EA-1553A91A11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924800" y="0"/>
            <a:ext cx="3200400" cy="121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2880" rtlCol="0" anchor="ctr"/>
          <a:lstStyle/>
          <a:p>
            <a:pPr algn="ctr"/>
            <a:r>
              <a:rPr lang="en-US" sz="6600" b="1">
                <a:solidFill>
                  <a:schemeClr val="tx2"/>
                </a:solidFill>
                <a:latin typeface="+mj-lt"/>
              </a:rPr>
              <a:t>EECS</a:t>
            </a:r>
          </a:p>
        </p:txBody>
      </p:sp>
    </p:spTree>
    <p:extLst>
      <p:ext uri="{BB962C8B-B14F-4D97-AF65-F5344CB8AC3E}">
        <p14:creationId xmlns:p14="http://schemas.microsoft.com/office/powerpoint/2010/main" val="319886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2293-6E97-01C2-D6F6-AF89E388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2D98-5346-C436-6638-C891877F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4482-8871-58D0-6AD0-A7FF2D79C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10056813" cy="3736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/>
            <a:r>
              <a:rPr lang="en-US" dirty="0"/>
              <a:t>This is for adding a course after the regular add period ends.</a:t>
            </a:r>
          </a:p>
          <a:p>
            <a:pPr marL="200660" indent="-200660"/>
            <a:r>
              <a:rPr lang="en-US" dirty="0"/>
              <a:t>Requires permission from course instructor</a:t>
            </a:r>
          </a:p>
          <a:p>
            <a:pPr marL="200660" indent="-200660"/>
            <a:r>
              <a:rPr lang="en-US" dirty="0"/>
              <a:t>$6 fee for each course late added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6C791-DB01-3830-AD0C-B5C014B5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0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8E20-3746-B729-E9E2-6CE4C09F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25D8-B0E0-6EC1-CF23-233205A2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Step 1: Obtain the class number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6C472-29D6-877A-35D4-7D7334A58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10056813" cy="3736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/>
            <a:r>
              <a:rPr lang="en-US" dirty="0">
                <a:ea typeface="+mn-lt"/>
                <a:cs typeface="+mn-lt"/>
              </a:rPr>
              <a:t>Use the class search found </a:t>
            </a:r>
            <a:r>
              <a:rPr lang="en-US">
                <a:ea typeface="+mn-lt"/>
                <a:cs typeface="+mn-lt"/>
              </a:rPr>
              <a:t>here:</a:t>
            </a:r>
            <a:endParaRPr lang="en-US"/>
          </a:p>
          <a:p>
            <a:pPr lvl="1">
              <a:buFont typeface="Courier New" pitchFamily="2" charset="2"/>
              <a:buChar char="o"/>
            </a:pPr>
            <a:r>
              <a:rPr lang="en-US" dirty="0">
                <a:ea typeface="+mn-lt"/>
                <a:cs typeface="+mn-lt"/>
                <a:hlinkClick r:id="rId4"/>
              </a:rPr>
              <a:t>https://public.lionpath.psu.edu/psp/CSPRD/EMPLOYEE/SA/h/?tab=PE_PT_NVT_FL_PUB_CLS_SRCH</a:t>
            </a:r>
          </a:p>
          <a:p>
            <a:pPr marL="200660" indent="-20066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C09A0-37A2-16E8-5CEF-15610136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07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1138-5708-6F5A-9AD9-505E77C6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Step 2: Get instructor permission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D64B4-B053-E6AC-8301-90D83C473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10056813" cy="3736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/>
            <a:r>
              <a:rPr lang="en-US">
                <a:ea typeface="+mn-lt"/>
                <a:cs typeface="+mn-lt"/>
              </a:rPr>
              <a:t>Obtain the instructor's signature (preferably in person) using a drop/add </a:t>
            </a:r>
            <a:r>
              <a:rPr lang="en-US" dirty="0">
                <a:ea typeface="+mn-lt"/>
                <a:cs typeface="+mn-lt"/>
              </a:rPr>
              <a:t>form</a:t>
            </a:r>
          </a:p>
          <a:p>
            <a:pPr marL="200660" indent="-200660"/>
            <a:r>
              <a:rPr lang="en-US" dirty="0"/>
              <a:t>The form can be filled out and printed here:</a:t>
            </a:r>
          </a:p>
          <a:p>
            <a:pPr lvl="1">
              <a:buFont typeface="Courier New" pitchFamily="2" charset="2"/>
              <a:buChar char="o"/>
            </a:pPr>
            <a:r>
              <a:rPr lang="en-US" dirty="0">
                <a:hlinkClick r:id="rId3"/>
              </a:rPr>
              <a:t>https://www.registrar.psu.edu/student-forms/drop-add.cfm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200660" indent="-20066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39555-41F8-3849-4AC1-8024B714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14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67059-FA42-BB99-7166-6DCEFB71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Submit the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173E2-7DE0-2D07-5B57-DD4083A27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00660" indent="-200660"/>
            <a:r>
              <a:rPr lang="en-US" dirty="0"/>
              <a:t>The form should be submitted to the campus registrar in person or by email</a:t>
            </a:r>
          </a:p>
          <a:p>
            <a:pPr marL="200660" indent="-200660"/>
            <a:r>
              <a:rPr lang="en-US" dirty="0"/>
              <a:t>After this, the </a:t>
            </a:r>
            <a:r>
              <a:rPr lang="en-US"/>
              <a:t>registrar will add you to the course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0C4D6-3555-C874-7E2A-F41E21BA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1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A1AF6-0142-402D-7F1B-A5DAC6E5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A97E-0C56-B097-0B35-DBBB1C06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Step 3: Contact the department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26772-0BEA-CAD7-9081-7B3D8A895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10056813" cy="3736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/>
            <a:r>
              <a:rPr lang="en-US" dirty="0"/>
              <a:t>The Computer Science and Engineering department can be contacted at 814-865-9505.</a:t>
            </a:r>
          </a:p>
          <a:p>
            <a:pPr marL="200660" indent="-200660"/>
            <a:r>
              <a:rPr lang="en-US" dirty="0"/>
              <a:t>Contact information for other departments at the University Park campus can be found here:</a:t>
            </a:r>
          </a:p>
          <a:p>
            <a:pPr lvl="1">
              <a:buFont typeface="Courier New" pitchFamily="2" charset="2"/>
              <a:buChar char="o"/>
            </a:pPr>
            <a:r>
              <a:rPr lang="en-US" dirty="0">
                <a:hlinkClick r:id="rId4"/>
              </a:rPr>
              <a:t>https://registrar.psu.edu/registration/department-contacts-course-controls.cfm</a:t>
            </a:r>
            <a:endParaRPr lang="en-US"/>
          </a:p>
          <a:p>
            <a:pPr marL="200660" indent="-200660"/>
            <a:r>
              <a:rPr lang="en-US" dirty="0"/>
              <a:t>At other campuses, use the registrar contact info:</a:t>
            </a:r>
          </a:p>
          <a:p>
            <a:pPr lvl="1">
              <a:buFont typeface="Courier New" pitchFamily="2" charset="2"/>
              <a:buChar char="o"/>
            </a:pPr>
            <a:r>
              <a:rPr lang="en-US" dirty="0">
                <a:hlinkClick r:id="rId5"/>
              </a:rPr>
              <a:t>https://registrar.psu.edu/contact/campus-registrar-directory.cfm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FF8D3-7A72-7019-1717-7FFA7334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222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70DF-B11D-1C76-4C3B-A72B212F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CB751-6369-C2D0-5911-57BE0CC7A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00660" indent="-200660"/>
            <a:r>
              <a:rPr lang="en-US" dirty="0">
                <a:ea typeface="+mn-lt"/>
                <a:cs typeface="+mn-lt"/>
                <a:hlinkClick r:id="rId3"/>
              </a:rPr>
              <a:t>https://registrar.psu.edu/registration/adding-dropping-auditing-courses.cfm</a:t>
            </a:r>
          </a:p>
          <a:p>
            <a:pPr marL="200660" indent="-200660"/>
            <a:r>
              <a:rPr lang="en-US" dirty="0">
                <a:ea typeface="+mn-lt"/>
                <a:cs typeface="+mn-lt"/>
              </a:rPr>
              <a:t>Registrar contact information:</a:t>
            </a:r>
          </a:p>
          <a:p>
            <a:pPr marL="594360" lvl="1" indent="0">
              <a:buNone/>
            </a:pPr>
            <a:r>
              <a:rPr lang="en-US" dirty="0">
                <a:ea typeface="+mn-lt"/>
                <a:cs typeface="+mn-lt"/>
              </a:rPr>
              <a:t>Shields Building Lobby</a:t>
            </a:r>
          </a:p>
          <a:p>
            <a:pPr marL="594360" lvl="1" indent="0">
              <a:buNone/>
            </a:pPr>
            <a:r>
              <a:rPr lang="en-US" dirty="0">
                <a:ea typeface="+mn-lt"/>
                <a:cs typeface="+mn-lt"/>
              </a:rPr>
              <a:t>664 Curtin Road</a:t>
            </a:r>
            <a:endParaRPr lang="en-US" dirty="0"/>
          </a:p>
          <a:p>
            <a:pPr marL="594360" lvl="1" indent="0">
              <a:buNone/>
            </a:pPr>
            <a:r>
              <a:rPr lang="en-US" dirty="0">
                <a:ea typeface="+mn-lt"/>
                <a:cs typeface="+mn-lt"/>
              </a:rPr>
              <a:t>University Park, PA 16802</a:t>
            </a:r>
            <a:endParaRPr lang="en-US" dirty="0"/>
          </a:p>
          <a:p>
            <a:pPr marL="594360" lvl="1" indent="0">
              <a:buNone/>
            </a:pPr>
            <a:r>
              <a:rPr lang="en-US" dirty="0">
                <a:ea typeface="+mn-lt"/>
                <a:cs typeface="+mn-lt"/>
              </a:rPr>
              <a:t>814-863-0000</a:t>
            </a:r>
            <a:endParaRPr lang="en-US" dirty="0"/>
          </a:p>
          <a:p>
            <a:pPr marL="594360" lvl="1" indent="0">
              <a:buNone/>
            </a:pPr>
            <a:r>
              <a:rPr lang="en-US" dirty="0">
                <a:ea typeface="+mn-lt"/>
                <a:cs typeface="+mn-lt"/>
                <a:hlinkClick r:id="rId4"/>
              </a:rPr>
              <a:t>esc@psu.edu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2D656-E0FA-23F0-C81B-F5F982117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120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SU Corner Shield Basic Theme">
  <a:themeElements>
    <a:clrScheme name="PSU Base Color Theme">
      <a:dk1>
        <a:srgbClr val="262626"/>
      </a:dk1>
      <a:lt1>
        <a:srgbClr val="FFFFFF"/>
      </a:lt1>
      <a:dk2>
        <a:srgbClr val="1E407C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Corner-Shield_v03-02.pptx" id="{199CED2F-3E11-A249-A8A0-371F2253AE5A}" vid="{7D869A32-DE16-724D-AC64-F2155F6B84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4867D4D53E3D4DAEB8A24C74DE7595" ma:contentTypeVersion="3" ma:contentTypeDescription="Create a new document." ma:contentTypeScope="" ma:versionID="3682823a42a5037a20b4851e1f905552">
  <xsd:schema xmlns:xsd="http://www.w3.org/2001/XMLSchema" xmlns:xs="http://www.w3.org/2001/XMLSchema" xmlns:p="http://schemas.microsoft.com/office/2006/metadata/properties" xmlns:ns2="4d9f6107-874f-496d-bf21-da0a2196cbef" targetNamespace="http://schemas.microsoft.com/office/2006/metadata/properties" ma:root="true" ma:fieldsID="a6d4a9a2f336a5f2c1f9600babab959a" ns2:_="">
    <xsd:import namespace="4d9f6107-874f-496d-bf21-da0a2196cb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f6107-874f-496d-bf21-da0a2196cb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3C5FBF-CEB1-4F21-9D6B-FCB7D4B4E0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83BC7-AE5F-43EE-B82C-5758B69134B6}">
  <ds:schemaRefs>
    <ds:schemaRef ds:uri="28f5b418-f2c1-4a16-8283-c5ed56dbb9cc"/>
    <ds:schemaRef ds:uri="3c8fd356-1280-4d00-a910-3bff90828a90"/>
    <ds:schemaRef ds:uri="542b8847-f5d4-4c9f-bd30-657d16e5db1d"/>
    <ds:schemaRef ds:uri="c7c738f6-68ec-422e-b0e4-3523873f7a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06E766A-9F38-4F54-B50B-CF62D96F2D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9f6107-874f-496d-bf21-da0a2196cb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PSU Corner Shield Basic Theme</Template>
  <Application>Microsoft Office PowerPoint</Application>
  <PresentationFormat>Widescreen</PresentationFormat>
  <Slides>7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PSU Corner Shield Basic Theme</vt:lpstr>
      <vt:lpstr>Late adding credits</vt:lpstr>
      <vt:lpstr>Overview</vt:lpstr>
      <vt:lpstr>Step 1: Obtain the class number</vt:lpstr>
      <vt:lpstr>Step 2: Get instructor permission</vt:lpstr>
      <vt:lpstr>Step 3: Submit the form</vt:lpstr>
      <vt:lpstr>Step 3: Contact the department</vt:lpstr>
      <vt:lpstr>For more information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Venugopal, Vishnu Mattakkattu</dc:creator>
  <cp:keywords>basic, brand, layout, Penn State, PowerPoint, presentation, template</cp:keywords>
  <dc:description/>
  <cp:revision>120</cp:revision>
  <cp:lastPrinted>2025-07-22T15:00:44Z</cp:lastPrinted>
  <dcterms:created xsi:type="dcterms:W3CDTF">2026-02-02T21:54:26Z</dcterms:created>
  <dcterms:modified xsi:type="dcterms:W3CDTF">2026-03-31T16:10:42Z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0x010100964867D4D53E3D4DAEB8A24C74DE7595</vt:lpwstr>
  </property>
  <property fmtid="{D5CDD505-2E9C-101B-9397-08002B2CF9AE}" pid="3" name="MediaServiceImageTags">
    <vt:lpwstr/>
  </property>
  <property fmtid="{D5CDD505-2E9C-101B-9397-08002B2CF9AE}" pid="4" name="Version">
    <vt:lpwstr>3.2</vt:lpwstr>
  </property>
</Properties>
</file>
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84" r:id="rId5"/>
    <p:sldId id="463" r:id="rId6"/>
    <p:sldId id="446" r:id="rId7"/>
    <p:sldId id="475" r:id="rId8"/>
    <p:sldId id="473" r:id="rId9"/>
    <p:sldId id="474" r:id="rId10"/>
    <p:sldId id="4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BEE6"/>
    <a:srgbClr val="FFFFFF"/>
    <a:srgbClr val="009CDE"/>
    <a:srgbClr val="FFD200"/>
    <a:srgbClr val="1E407C"/>
    <a:srgbClr val="25324A"/>
    <a:srgbClr val="F0F0F0"/>
    <a:srgbClr val="000000"/>
    <a:srgbClr val="A3AAAE"/>
    <a:srgbClr val="C7CC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17D9DA-1237-12B6-7ABE-B0D13CE316AA}" v="224" dt="2026-02-02T22:42:27.104"/>
    <p1510:client id="{AB79932B-DF27-AA57-AA71-1632C986249C}" v="334" dt="2026-02-02T22:43:30.663"/>
    <p1510:client id="{C6B71EAB-1307-1B7C-4ABE-DEBE1D70CBF5}" v="207" dt="2026-02-02T22:24:13.782"/>
  </p1510:revLst>
</p1510:revInfo>
</file>

<file path=ppt/tableStyles.xml><?xml version="1.0" encoding="utf-8"?>
<a:tblStyleLst xmlns:a="http://schemas.openxmlformats.org/drawingml/2006/main" def="{D27102A9-8310-4765-A935-A1911B00CA5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516" y="14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142AEA1-A4D9-0CCB-F45A-B1E1439F1A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54A58F-8F56-AC2F-BF1F-CC6DC677BC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0C506B-9C0A-7C42-AABC-F7A7C632EC5D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EAB37E-160B-D909-0FF9-07D0690CDC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68ED66-3D76-AA61-3811-390722B429E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179E4A-7233-C749-8BF5-78FC642D4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7744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F9AC51-1594-3C45-9820-82036BC34A39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9D638-7D78-EA4A-A05B-01174BE0F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17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9D638-7D78-EA4A-A05B-01174BE0F3D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469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15885-7F30-0860-3B73-6AA97B968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A8C392-1A14-DC35-F50C-70AA57C5B8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CB32C2-6BBB-5F8B-C649-4DCB72BA3E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956EFC-D0F0-57FA-DAC0-368566DBA0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9D638-7D78-EA4A-A05B-01174BE0F3D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8112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9D638-7D78-EA4A-A05B-01174BE0F3D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907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2CED7-1716-2A9B-DC1F-136B2319E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DEFB4B-20B6-683B-C6F9-9793B82177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C19F7E-8B93-8D95-3E64-6FC3408A67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7328A-0CAC-770C-8CAD-252643397A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9D638-7D78-EA4A-A05B-01174BE0F3D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874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0675E-11CC-C923-AB03-7BAC83039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130061-0022-C26C-B450-D9D8550E0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B3F0C7-EE3B-EFDE-7D22-B3033BAC92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F0751-CB61-EDF2-7497-24891A8444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9D638-7D78-EA4A-A05B-01174BE0F3D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1802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9FC8D-B0B1-83AA-7899-B711DC738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E326F3-CDCB-90F0-308E-56DC6E33EC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064E63-2F5B-1F61-C363-11F7A6E7E1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068D1-77D7-9918-0E63-C46072D38C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9D638-7D78-EA4A-A05B-01174BE0F3D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35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8D534-2E7A-C623-C2A2-CF94723C5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64FAF8-6B96-50DD-232A-DB0C26F0BD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CA5C9A-FBEF-1BAA-EEA7-DD6D2673D4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D81C2-9B2F-AA8E-FB72-B7292DBF7C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9D638-7D78-EA4A-A05B-01174BE0F3D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703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CommCnrShld Graphic">
            <a:extLst>
              <a:ext uri="{FF2B5EF4-FFF2-40B4-BE49-F238E27FC236}">
                <a16:creationId xmlns:a16="http://schemas.microsoft.com/office/drawing/2014/main" id="{F373BAED-49B4-A922-D2DD-83B86D824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153400" y="2011680"/>
            <a:ext cx="4038601" cy="4846321"/>
            <a:chOff x="9550401" y="3688081"/>
            <a:chExt cx="2641599" cy="3169919"/>
          </a:xfrm>
        </p:grpSpPr>
        <p:sp>
          <p:nvSpPr>
            <p:cNvPr id="13" name="Corner Shield Shape Right">
              <a:extLst>
                <a:ext uri="{FF2B5EF4-FFF2-40B4-BE49-F238E27FC236}">
                  <a16:creationId xmlns:a16="http://schemas.microsoft.com/office/drawing/2014/main" id="{86A60D22-4897-D628-2F4B-29E49B076D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99087" y="3700789"/>
              <a:ext cx="2392913" cy="3157211"/>
            </a:xfrm>
            <a:custGeom>
              <a:avLst/>
              <a:gdLst>
                <a:gd name="connsiteX0" fmla="*/ 0 w 1637473"/>
                <a:gd name="connsiteY0" fmla="*/ 2160483 h 2160483"/>
                <a:gd name="connsiteX1" fmla="*/ 1637474 w 1637473"/>
                <a:gd name="connsiteY1" fmla="*/ 2160483 h 2160483"/>
                <a:gd name="connsiteX2" fmla="*/ 1637474 w 1637473"/>
                <a:gd name="connsiteY2" fmla="*/ 0 h 2160483"/>
                <a:gd name="connsiteX3" fmla="*/ 0 w 1637473"/>
                <a:gd name="connsiteY3" fmla="*/ 2160483 h 2160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7473" h="2160483">
                  <a:moveTo>
                    <a:pt x="0" y="2160483"/>
                  </a:moveTo>
                  <a:lnTo>
                    <a:pt x="1637474" y="2160483"/>
                  </a:lnTo>
                  <a:lnTo>
                    <a:pt x="1637474" y="0"/>
                  </a:lnTo>
                  <a:cubicBezTo>
                    <a:pt x="1637474" y="1113830"/>
                    <a:pt x="688808" y="1755720"/>
                    <a:pt x="0" y="2160483"/>
                  </a:cubicBezTo>
                  <a:close/>
                </a:path>
              </a:pathLst>
            </a:custGeom>
            <a:solidFill>
              <a:srgbClr val="1E407C"/>
            </a:solidFill>
            <a:ln w="12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14" name="Comm Shield Corner">
              <a:extLst>
                <a:ext uri="{FF2B5EF4-FFF2-40B4-BE49-F238E27FC236}">
                  <a16:creationId xmlns:a16="http://schemas.microsoft.com/office/drawing/2014/main" id="{6907CFA7-DA25-9315-C431-0372EFB1DA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550401" y="3688081"/>
              <a:ext cx="2641599" cy="3169919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6EFBB5-30AC-C871-D426-6A0BE13F79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990600"/>
            <a:ext cx="9601200" cy="2519363"/>
          </a:xfrm>
        </p:spPr>
        <p:txBody>
          <a:bodyPr anchor="b"/>
          <a:lstStyle>
            <a:lvl1pPr algn="l">
              <a:defRPr sz="6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44EB8D-C5EF-C32E-D8C7-15E1792F9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602038"/>
            <a:ext cx="9601200" cy="1274762"/>
          </a:xfrm>
        </p:spPr>
        <p:txBody>
          <a:bodyPr/>
          <a:lstStyle>
            <a:lvl1pPr marL="0" indent="0" algn="l"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EBBAE-C4A0-F2D9-A43F-328BD41688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02789" y="0"/>
            <a:ext cx="3089211" cy="914400"/>
          </a:xfrm>
        </p:spPr>
        <p:txBody>
          <a:bodyPr/>
          <a:lstStyle>
            <a:lvl1pPr algn="r">
              <a:defRPr/>
            </a:lvl1pPr>
          </a:lstStyle>
          <a:p>
            <a:fld id="{4D83A44C-8064-3F47-951D-EE74B1CE44B9}" type="datetime1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318BB-68AB-F92B-99D2-699E766B5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F2ACF-01D0-F003-D6CD-197BC00EB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6799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CommCnrShld Graphic">
            <a:extLst>
              <a:ext uri="{FF2B5EF4-FFF2-40B4-BE49-F238E27FC236}">
                <a16:creationId xmlns:a16="http://schemas.microsoft.com/office/drawing/2014/main" id="{67AFFE4C-AD09-A4B4-266D-0CDBFC24F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153400" y="2011680"/>
            <a:ext cx="4038601" cy="4846321"/>
            <a:chOff x="9550401" y="3688081"/>
            <a:chExt cx="2641599" cy="3169919"/>
          </a:xfrm>
        </p:grpSpPr>
        <p:sp>
          <p:nvSpPr>
            <p:cNvPr id="11" name="Corner Shield Shape Right">
              <a:extLst>
                <a:ext uri="{FF2B5EF4-FFF2-40B4-BE49-F238E27FC236}">
                  <a16:creationId xmlns:a16="http://schemas.microsoft.com/office/drawing/2014/main" id="{49D02B88-1226-677B-BE20-324F0F9CB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99087" y="3700789"/>
              <a:ext cx="2392913" cy="3157211"/>
            </a:xfrm>
            <a:custGeom>
              <a:avLst/>
              <a:gdLst>
                <a:gd name="connsiteX0" fmla="*/ 0 w 1637473"/>
                <a:gd name="connsiteY0" fmla="*/ 2160483 h 2160483"/>
                <a:gd name="connsiteX1" fmla="*/ 1637474 w 1637473"/>
                <a:gd name="connsiteY1" fmla="*/ 2160483 h 2160483"/>
                <a:gd name="connsiteX2" fmla="*/ 1637474 w 1637473"/>
                <a:gd name="connsiteY2" fmla="*/ 0 h 2160483"/>
                <a:gd name="connsiteX3" fmla="*/ 0 w 1637473"/>
                <a:gd name="connsiteY3" fmla="*/ 2160483 h 2160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7473" h="2160483">
                  <a:moveTo>
                    <a:pt x="0" y="2160483"/>
                  </a:moveTo>
                  <a:lnTo>
                    <a:pt x="1637474" y="2160483"/>
                  </a:lnTo>
                  <a:lnTo>
                    <a:pt x="1637474" y="0"/>
                  </a:lnTo>
                  <a:cubicBezTo>
                    <a:pt x="1637474" y="1113830"/>
                    <a:pt x="688808" y="1755720"/>
                    <a:pt x="0" y="2160483"/>
                  </a:cubicBezTo>
                  <a:close/>
                </a:path>
              </a:pathLst>
            </a:custGeom>
            <a:solidFill>
              <a:srgbClr val="1E407C"/>
            </a:solidFill>
            <a:ln w="12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12" name="Comm Shield Corner">
              <a:extLst>
                <a:ext uri="{FF2B5EF4-FFF2-40B4-BE49-F238E27FC236}">
                  <a16:creationId xmlns:a16="http://schemas.microsoft.com/office/drawing/2014/main" id="{D6679DDB-1E63-F5D0-55BF-F77DEE0E6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550401" y="3688081"/>
              <a:ext cx="2641599" cy="3169919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EDA0D94-A5D8-A033-57AC-B05EF0107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37657"/>
            <a:ext cx="9677400" cy="274320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A5B9B-B0BE-4DBF-1904-4FDEF848F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590393"/>
            <a:ext cx="8228013" cy="120080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AE21E-52C8-F0D8-877A-7F63F8DEE6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02789" y="0"/>
            <a:ext cx="3089211" cy="914400"/>
          </a:xfrm>
        </p:spPr>
        <p:txBody>
          <a:bodyPr/>
          <a:lstStyle>
            <a:lvl1pPr algn="r">
              <a:defRPr/>
            </a:lvl1pPr>
          </a:lstStyle>
          <a:p>
            <a:fld id="{D3B27A41-27B9-E448-9F3A-69E294D7051D}" type="datetime1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1F391-6A8E-3DD1-AA3E-099C67E66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638E9-4BAB-5563-88CD-156F06F9D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0226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BE763-F41D-F991-1AB4-82B8D57342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slide title, key point, or assertion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96128-8A19-FE3B-2DAF-0406DB50386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66800" y="1825625"/>
            <a:ext cx="10056813" cy="3736975"/>
          </a:xfrm>
        </p:spPr>
        <p:txBody>
          <a:bodyPr/>
          <a:lstStyle>
            <a:lvl2pPr marL="777240" indent="-182880">
              <a:defRPr/>
            </a:lvl2pPr>
          </a:lstStyle>
          <a:p>
            <a:pPr marL="201168" marR="0" lvl="0" indent="-201168" algn="l" defTabSz="9144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/>
              <a:t>Click to add text or choose an icon below to insert other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BDCF0-7468-FACC-ACE3-74245710C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5B02E-A76A-D543-896B-0002B4A60318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55521-2464-763C-14E3-1546CCD69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9F393-FA98-BA11-DB7E-F32E606FE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301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F787D-E2BC-F3FE-5703-A9932B981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4114800" cy="26797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B8DDE-3683-969F-02EF-973A7096944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676275"/>
            <a:ext cx="6399212" cy="458628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add text or choose an icon below to insert other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72CB31-00D3-E20B-B087-8ADEFEF73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3429000"/>
            <a:ext cx="4114800" cy="2286000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A5B58-8500-964C-1BC6-DA163AB28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8D83B-FBE8-6341-9B65-B8DF7340B97B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5413BC-AAC0-9E6D-3C7D-EC459FA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921EAB-7603-CF08-3D09-C89AAFB47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43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3E1FC-5694-8B89-C491-7BA53E357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1613" y="762000"/>
            <a:ext cx="4725987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F6D286-2952-5BB3-594A-BF27B94849A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1" y="990600"/>
            <a:ext cx="5486400" cy="4298899"/>
          </a:xfrm>
          <a:noFill/>
          <a:effectLst/>
        </p:spPr>
        <p:txBody>
          <a:bodyPr tIns="36576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None/>
              <a:tabLst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below to add picture. </a:t>
            </a:r>
            <a:br>
              <a:rPr lang="en-US"/>
            </a:br>
            <a:r>
              <a:rPr lang="en-US"/>
              <a:t>To crop the picture, click Crop on the Picture Tools tab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1B9431-C3FE-7CB8-8A4E-11841E03BA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51613" y="3048000"/>
            <a:ext cx="4572000" cy="2241499"/>
          </a:xfrm>
        </p:spPr>
        <p:txBody>
          <a:bodyPr anchor="b" anchorCtr="0">
            <a:normAutofit/>
          </a:bodyPr>
          <a:lstStyle>
            <a:lvl1pPr marL="0" indent="0">
              <a:buClr>
                <a:schemeClr val="accent1"/>
              </a:buClr>
              <a:buSzPct val="120000"/>
              <a:buFont typeface="System Font Regular"/>
              <a:buNone/>
              <a:tabLst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BE0845-C3A7-6E8F-5C61-5E11CF4CD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22E21-6626-7F48-BD7E-E9F69B4CC986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40A072-5CE9-D9EB-FA5A-347D0DC3F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46F95E-8EB8-15D7-077A-28ED3EBB5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7461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CFC1A-8AA3-1F3A-309D-65B86EB54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ABC937-51C8-A943-FFC9-D9B57CEBD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CF7B2-6D0C-1749-99C8-CF428F75A01C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B8A71-9225-7CD8-1C83-DBBDBCDCF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F5A8CB-332D-9515-5CFE-8172E8693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868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E07C2-6D9C-BF04-E789-5975B362A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25318-746A-F1C9-9F76-E0E02D493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825625"/>
            <a:ext cx="5029200" cy="3432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25F21F-1339-03C9-C6C8-52CF6F85F1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11766" y="1825625"/>
            <a:ext cx="5029201" cy="3432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FBD777-E1ED-B7BD-D234-FBA2A93D0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02C91-2BFC-A04F-9296-2B99B3ED0817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1BCB7D-2D1A-A8C3-18BF-F19BD4A6C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D1049C-0A42-1626-E4CB-C9416DAB0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301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6E5F2-E07D-49A5-45D2-61A59E6F2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0064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D649B-7DD0-707F-0286-3C79FF008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8331" y="1421607"/>
            <a:ext cx="5026025" cy="823912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4E628A-8E78-3092-8EEC-BCD0443E9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331" y="2245519"/>
            <a:ext cx="5026025" cy="3133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209B32-F927-21F8-6DB7-B78B0048D8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47645" y="1421607"/>
            <a:ext cx="5033167" cy="823912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AE6394-88A7-A6AA-0283-D80CBBB03F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47645" y="2245519"/>
            <a:ext cx="5033168" cy="3133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A32CFC-E655-92D0-91E5-1D2C643C7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1133-C6F7-A54C-B4F9-F574FC8B44CF}" type="datetime1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FD39A2-B6C2-50DB-DA1C-26525AE17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1E5A19-DEF8-8A75-0CA7-231B92809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230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4B92D9-0B28-E637-181B-4BD4F8C5E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07659-B258-5942-BADA-20CC774035A0}" type="datetime1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954192-2427-0DC8-0EAA-A64403D92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13789-D139-DD4C-0551-12E374CDB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99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A525F-0A3B-0A82-FBA8-69CEB60A3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F726D1-60B7-13F2-745F-8628A92E3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964F2-ED7E-FB0A-F2FC-34613DC96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F8AD4-0A8D-1942-AD91-7D3C5A1D73BF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810DB-DBB4-3D40-4773-A7EC1479B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FE995-CC29-4AFA-CB27-CF08B1F56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168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18F61B-E0C1-9CF0-2B16-FE8B941ECC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DFCD1-4F9D-5A79-22BB-572B3A36F4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1F889-A890-6F2D-CE9F-A7EAED634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1F17A-2A7E-764E-8194-BD617B10743D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5AB35-9A8B-4638-DC3C-9A106845E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99216-C74A-2574-5A1E-6232E83EA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06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CommCnrShld">
            <a:extLst>
              <a:ext uri="{FF2B5EF4-FFF2-40B4-BE49-F238E27FC236}">
                <a16:creationId xmlns:a16="http://schemas.microsoft.com/office/drawing/2014/main" id="{1618A93B-3E0D-4C69-C17E-DF520880C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9550401" y="3688081"/>
            <a:ext cx="2641599" cy="3169919"/>
            <a:chOff x="9550401" y="3688081"/>
            <a:chExt cx="2641599" cy="3169919"/>
          </a:xfrm>
        </p:grpSpPr>
        <p:sp>
          <p:nvSpPr>
            <p:cNvPr id="20" name="Corner Shield Shape Right">
              <a:extLst>
                <a:ext uri="{FF2B5EF4-FFF2-40B4-BE49-F238E27FC236}">
                  <a16:creationId xmlns:a16="http://schemas.microsoft.com/office/drawing/2014/main" id="{B7ECB6A5-D104-7FF6-DCD8-4B1AE2FA2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99087" y="3700789"/>
              <a:ext cx="2392913" cy="3157211"/>
            </a:xfrm>
            <a:custGeom>
              <a:avLst/>
              <a:gdLst>
                <a:gd name="connsiteX0" fmla="*/ 0 w 1637473"/>
                <a:gd name="connsiteY0" fmla="*/ 2160483 h 2160483"/>
                <a:gd name="connsiteX1" fmla="*/ 1637474 w 1637473"/>
                <a:gd name="connsiteY1" fmla="*/ 2160483 h 2160483"/>
                <a:gd name="connsiteX2" fmla="*/ 1637474 w 1637473"/>
                <a:gd name="connsiteY2" fmla="*/ 0 h 2160483"/>
                <a:gd name="connsiteX3" fmla="*/ 0 w 1637473"/>
                <a:gd name="connsiteY3" fmla="*/ 2160483 h 2160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7473" h="2160483">
                  <a:moveTo>
                    <a:pt x="0" y="2160483"/>
                  </a:moveTo>
                  <a:lnTo>
                    <a:pt x="1637474" y="2160483"/>
                  </a:lnTo>
                  <a:lnTo>
                    <a:pt x="1637474" y="0"/>
                  </a:lnTo>
                  <a:cubicBezTo>
                    <a:pt x="1637474" y="1113830"/>
                    <a:pt x="688808" y="1755720"/>
                    <a:pt x="0" y="2160483"/>
                  </a:cubicBezTo>
                  <a:close/>
                </a:path>
              </a:pathLst>
            </a:custGeom>
            <a:solidFill>
              <a:srgbClr val="1E407C"/>
            </a:solidFill>
            <a:ln w="12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21" name="Comm Shield Corner">
              <a:extLst>
                <a:ext uri="{FF2B5EF4-FFF2-40B4-BE49-F238E27FC236}">
                  <a16:creationId xmlns:a16="http://schemas.microsoft.com/office/drawing/2014/main" id="{70B461F0-4C10-DA44-2A54-6677C5265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550401" y="3688081"/>
              <a:ext cx="2641599" cy="3169919"/>
            </a:xfrm>
            <a:prstGeom prst="rect">
              <a:avLst/>
            </a:prstGeom>
          </p:spPr>
        </p:pic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7A061B-E2D0-062A-8997-8B6BC4ABE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144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52739-D66F-AA7A-6920-E8A8EA468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93851"/>
            <a:ext cx="10972800" cy="419734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9654C-F683-C04E-AC9E-E1AB426C28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0413" y="5943600"/>
            <a:ext cx="3089211" cy="914400"/>
          </a:xfrm>
          <a:prstGeom prst="rect">
            <a:avLst/>
          </a:prstGeom>
        </p:spPr>
        <p:txBody>
          <a:bodyPr vert="horz" lIns="91440" tIns="265176" rIns="1005840" bIns="91440" rtlCol="0" anchor="t" anchorCtr="0"/>
          <a:lstStyle>
            <a:lvl1pPr algn="l">
              <a:defRPr sz="1600" b="0">
                <a:solidFill>
                  <a:schemeClr val="tx2"/>
                </a:solidFill>
              </a:defRPr>
            </a:lvl1pPr>
          </a:lstStyle>
          <a:p>
            <a:fld id="{9E944EA1-8BCD-964C-87E6-31892231A579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EAB10-171B-90F2-7CFE-E58935A2E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4388" y="5943600"/>
            <a:ext cx="5026025" cy="914400"/>
          </a:xfrm>
          <a:prstGeom prst="rect">
            <a:avLst/>
          </a:prstGeom>
        </p:spPr>
        <p:txBody>
          <a:bodyPr vert="horz" lIns="548640" tIns="265176" rIns="182880" bIns="91440" rtlCol="0" anchor="t" anchorCtr="0"/>
          <a:lstStyle>
            <a:lvl1pPr algn="l">
              <a:defRPr sz="1600" b="0" i="0">
                <a:solidFill>
                  <a:schemeClr val="tx2"/>
                </a:solidFill>
                <a:latin typeface="+mn-lt"/>
                <a:cs typeface="Arial Narrow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E1D52-E2F8-EB1B-5C28-22BEBDFE9A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9624" y="5943600"/>
            <a:ext cx="722376" cy="914400"/>
          </a:xfrm>
          <a:prstGeom prst="rect">
            <a:avLst/>
          </a:prstGeom>
        </p:spPr>
        <p:txBody>
          <a:bodyPr vert="horz" lIns="91440" tIns="265176" rIns="91440" bIns="91440" rtlCol="0" anchor="t" anchorCtr="0"/>
          <a:lstStyle>
            <a:lvl1pPr algn="ctr">
              <a:defRPr sz="1600" b="1" i="0">
                <a:solidFill>
                  <a:srgbClr val="F0F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E1D1B55-F3E9-1242-8F18-D4006193687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4" name="Penn State Mark on Light BG" descr="Penn State University mark">
            <a:extLst>
              <a:ext uri="{FF2B5EF4-FFF2-40B4-BE49-F238E27FC236}">
                <a16:creationId xmlns:a16="http://schemas.microsoft.com/office/drawing/2014/main" id="{4FF244CC-1E2C-0F93-5B63-C9B4115A944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rcRect/>
          <a:stretch/>
        </p:blipFill>
        <p:spPr>
          <a:xfrm>
            <a:off x="493044" y="6013529"/>
            <a:ext cx="1709112" cy="78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059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2" r:id="rId3"/>
    <p:sldLayoutId id="2147483656" r:id="rId4"/>
    <p:sldLayoutId id="2147483657" r:id="rId5"/>
    <p:sldLayoutId id="2147483675" r:id="rId6"/>
    <p:sldLayoutId id="2147483673" r:id="rId7"/>
    <p:sldLayoutId id="2147483674" r:id="rId8"/>
    <p:sldLayoutId id="2147483655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1168" indent="-201168" algn="l" defTabSz="914400" rtl="0" eaLnBrk="1" latinLnBrk="0" hangingPunct="1">
        <a:lnSpc>
          <a:spcPct val="90000"/>
        </a:lnSpc>
        <a:spcBef>
          <a:spcPts val="2000"/>
        </a:spcBef>
        <a:buClr>
          <a:schemeClr val="tx2"/>
        </a:buClr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9436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051560" indent="-137160" algn="l" defTabSz="914400" rtl="0" eaLnBrk="1" latinLnBrk="0" hangingPunct="1">
        <a:lnSpc>
          <a:spcPct val="90000"/>
        </a:lnSpc>
        <a:spcBef>
          <a:spcPts val="11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417320" indent="-13716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65960" indent="-13716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A2B7E6"/>
          </p15:clr>
        </p15:guide>
        <p15:guide id="2" pos="7680" userDrawn="1">
          <p15:clr>
            <a:srgbClr val="A2B7E6"/>
          </p15:clr>
        </p15:guide>
        <p15:guide id="3" pos="384" userDrawn="1">
          <p15:clr>
            <a:srgbClr val="A2B7E6"/>
          </p15:clr>
        </p15:guide>
        <p15:guide id="4" pos="672" userDrawn="1">
          <p15:clr>
            <a:srgbClr val="A2B7E6"/>
          </p15:clr>
        </p15:guide>
        <p15:guide id="5" pos="960" userDrawn="1">
          <p15:clr>
            <a:srgbClr val="A2B7E6"/>
          </p15:clr>
        </p15:guide>
        <p15:guide id="6" pos="1248" userDrawn="1">
          <p15:clr>
            <a:srgbClr val="A2B7E6"/>
          </p15:clr>
        </p15:guide>
        <p15:guide id="7" pos="1536" userDrawn="1">
          <p15:clr>
            <a:srgbClr val="A2B7E6"/>
          </p15:clr>
        </p15:guide>
        <p15:guide id="8" pos="1824" userDrawn="1">
          <p15:clr>
            <a:srgbClr val="A2B7E6"/>
          </p15:clr>
        </p15:guide>
        <p15:guide id="9" pos="2112" userDrawn="1">
          <p15:clr>
            <a:srgbClr val="A2B7E6"/>
          </p15:clr>
        </p15:guide>
        <p15:guide id="10" pos="2400" userDrawn="1">
          <p15:clr>
            <a:srgbClr val="A2B7E6"/>
          </p15:clr>
        </p15:guide>
        <p15:guide id="11" pos="2688" userDrawn="1">
          <p15:clr>
            <a:srgbClr val="A2B7E6"/>
          </p15:clr>
        </p15:guide>
        <p15:guide id="12" pos="2976" userDrawn="1">
          <p15:clr>
            <a:srgbClr val="A2B7E6"/>
          </p15:clr>
        </p15:guide>
        <p15:guide id="13" pos="3264" userDrawn="1">
          <p15:clr>
            <a:srgbClr val="A2B7E6"/>
          </p15:clr>
        </p15:guide>
        <p15:guide id="14" pos="3552" userDrawn="1">
          <p15:clr>
            <a:srgbClr val="A2B7E6"/>
          </p15:clr>
        </p15:guide>
        <p15:guide id="15" pos="3840" userDrawn="1">
          <p15:clr>
            <a:srgbClr val="A2B7E6"/>
          </p15:clr>
        </p15:guide>
        <p15:guide id="16" pos="4127" userDrawn="1">
          <p15:clr>
            <a:srgbClr val="A2B7E6"/>
          </p15:clr>
        </p15:guide>
        <p15:guide id="17" pos="4415" userDrawn="1">
          <p15:clr>
            <a:srgbClr val="A2B7E6"/>
          </p15:clr>
        </p15:guide>
        <p15:guide id="18" pos="4703" userDrawn="1">
          <p15:clr>
            <a:srgbClr val="A2B7E6"/>
          </p15:clr>
        </p15:guide>
        <p15:guide id="19" pos="4991" userDrawn="1">
          <p15:clr>
            <a:srgbClr val="A2B7E6"/>
          </p15:clr>
        </p15:guide>
        <p15:guide id="20" pos="5279" userDrawn="1">
          <p15:clr>
            <a:srgbClr val="A2B7E6"/>
          </p15:clr>
        </p15:guide>
        <p15:guide id="21" pos="5567" userDrawn="1">
          <p15:clr>
            <a:srgbClr val="A2B7E6"/>
          </p15:clr>
        </p15:guide>
        <p15:guide id="22" pos="5855" userDrawn="1">
          <p15:clr>
            <a:srgbClr val="A2B7E6"/>
          </p15:clr>
        </p15:guide>
        <p15:guide id="23" pos="6144" userDrawn="1">
          <p15:clr>
            <a:srgbClr val="A2B7E6"/>
          </p15:clr>
        </p15:guide>
        <p15:guide id="24" pos="6431" userDrawn="1">
          <p15:clr>
            <a:srgbClr val="A2B7E6"/>
          </p15:clr>
        </p15:guide>
        <p15:guide id="25" pos="6719" userDrawn="1">
          <p15:clr>
            <a:srgbClr val="A2B7E6"/>
          </p15:clr>
        </p15:guide>
        <p15:guide id="26" pos="7007" userDrawn="1">
          <p15:clr>
            <a:srgbClr val="A2B7E6"/>
          </p15:clr>
        </p15:guide>
        <p15:guide id="27" pos="7295" userDrawn="1">
          <p15:clr>
            <a:srgbClr val="A2B7E6"/>
          </p15:clr>
        </p15:guide>
        <p15:guide id="28" orient="horz" userDrawn="1">
          <p15:clr>
            <a:srgbClr val="A2B7E6"/>
          </p15:clr>
        </p15:guide>
        <p15:guide id="29" orient="horz" pos="4320" userDrawn="1">
          <p15:clr>
            <a:srgbClr val="A2B7E6"/>
          </p15:clr>
        </p15:guide>
        <p15:guide id="30" orient="horz" pos="426" userDrawn="1">
          <p15:clr>
            <a:srgbClr val="A2B7E6"/>
          </p15:clr>
        </p15:guide>
        <p15:guide id="31" orient="horz" pos="1004" userDrawn="1">
          <p15:clr>
            <a:srgbClr val="A2B7E6"/>
          </p15:clr>
        </p15:guide>
        <p15:guide id="32" orient="horz" pos="1582" userDrawn="1">
          <p15:clr>
            <a:srgbClr val="A2B7E6"/>
          </p15:clr>
        </p15:guide>
        <p15:guide id="33" orient="horz" pos="2160" userDrawn="1">
          <p15:clr>
            <a:srgbClr val="A2B7E6"/>
          </p15:clr>
        </p15:guide>
        <p15:guide id="34" orient="horz" pos="2737" userDrawn="1">
          <p15:clr>
            <a:srgbClr val="A2B7E6"/>
          </p15:clr>
        </p15:guide>
        <p15:guide id="35" orient="horz" pos="3315" userDrawn="1">
          <p15:clr>
            <a:srgbClr val="A2B7E6"/>
          </p15:clr>
        </p15:guide>
        <p15:guide id="36" orient="horz" pos="3893" userDrawn="1">
          <p15:clr>
            <a:srgbClr val="A2B7E6"/>
          </p15:clr>
        </p15:guide>
        <p15:guide id="37" orient="horz" pos="40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appm.psu.edu/policy/c-7-course-repeat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senate.psu.edu/students/policies-and-rules-for-undergraduate-students/47-00-48-00-and-49-00-grad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F2308-0E50-8ADA-7E87-DA529A587B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0"/>
            <a:ext cx="10363200" cy="4688681"/>
          </a:xfrm>
        </p:spPr>
        <p:txBody>
          <a:bodyPr anchor="b">
            <a:noAutofit/>
          </a:bodyPr>
          <a:lstStyle/>
          <a:p>
            <a:r>
              <a:rPr lang="en-US" sz="8800" dirty="0"/>
              <a:t>Course Repeat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B878C3-F16B-E672-8DFE-29E069EBE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4780756"/>
            <a:ext cx="9601200" cy="1274762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9" name="Rectangle 8" descr="Rectangle shape labeled “Basic”">
            <a:extLst>
              <a:ext uri="{FF2B5EF4-FFF2-40B4-BE49-F238E27FC236}">
                <a16:creationId xmlns:a16="http://schemas.microsoft.com/office/drawing/2014/main" id="{D47FDAB2-75FF-DAA9-67EA-1553A91A11F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924800" y="0"/>
            <a:ext cx="3200400" cy="1219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82880" rtlCol="0" anchor="ctr"/>
          <a:lstStyle/>
          <a:p>
            <a:pPr algn="ctr"/>
            <a:r>
              <a:rPr lang="en-US" sz="6600" b="1">
                <a:solidFill>
                  <a:schemeClr val="tx2"/>
                </a:solidFill>
                <a:latin typeface="+mj-lt"/>
              </a:rPr>
              <a:t>EECS</a:t>
            </a:r>
          </a:p>
        </p:txBody>
      </p:sp>
    </p:spTree>
    <p:extLst>
      <p:ext uri="{BB962C8B-B14F-4D97-AF65-F5344CB8AC3E}">
        <p14:creationId xmlns:p14="http://schemas.microsoft.com/office/powerpoint/2010/main" val="319886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52293-6E97-01C2-D6F6-AF89E388F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92D98-5346-C436-6638-C891877FB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14400"/>
          </a:xfrm>
        </p:spPr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64482-8871-58D0-6AD0-A7FF2D79C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7593" y="1682190"/>
            <a:ext cx="10056813" cy="426141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00660" indent="-200660"/>
            <a:r>
              <a:rPr lang="en-US" altLang="zh-CN" sz="2400" dirty="0"/>
              <a:t>Normally it’s allowed </a:t>
            </a:r>
            <a:r>
              <a:rPr lang="en-US" altLang="zh-CN" sz="2400" b="1" dirty="0"/>
              <a:t>2 attempts total</a:t>
            </a:r>
            <a:r>
              <a:rPr lang="en-US" altLang="zh-CN" sz="2400" dirty="0"/>
              <a:t> for a course</a:t>
            </a:r>
          </a:p>
          <a:p>
            <a:pPr marL="200660" indent="-200660"/>
            <a:r>
              <a:rPr lang="en-US" altLang="zh-CN" sz="2400" dirty="0"/>
              <a:t>The 3</a:t>
            </a:r>
            <a:r>
              <a:rPr lang="en-US" altLang="zh-CN" sz="2400" baseline="30000" dirty="0"/>
              <a:t>rd</a:t>
            </a:r>
            <a:r>
              <a:rPr lang="en-US" altLang="zh-CN" sz="2400" dirty="0"/>
              <a:t> attempt requires </a:t>
            </a:r>
            <a:r>
              <a:rPr lang="en-US" altLang="zh-CN" sz="2400" b="1" dirty="0"/>
              <a:t>special approval </a:t>
            </a:r>
            <a:r>
              <a:rPr lang="en-US" altLang="zh-CN" sz="2400" dirty="0"/>
              <a:t>(advisor + college approval)</a:t>
            </a:r>
          </a:p>
          <a:p>
            <a:pPr marL="200660" indent="-200660"/>
            <a:r>
              <a:rPr lang="en-US" sz="2400" dirty="0">
                <a:ea typeface="+mn-lt"/>
                <a:cs typeface="+mn-lt"/>
              </a:rPr>
              <a:t>An attempt includes:</a:t>
            </a:r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 - Getting a letter grade</a:t>
            </a:r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 - Late dropping the course</a:t>
            </a:r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 - Failing the course</a:t>
            </a:r>
          </a:p>
          <a:p>
            <a:pPr marL="0" indent="0">
              <a:buNone/>
            </a:pPr>
            <a:r>
              <a:rPr lang="en-US" altLang="zh-CN" sz="2000" i="1" dirty="0">
                <a:ea typeface="+mn-lt"/>
                <a:cs typeface="+mn-lt"/>
              </a:rPr>
              <a:t>*If student withdraws from university for the semester, courses from that semester do not count as attempted course</a:t>
            </a:r>
          </a:p>
          <a:p>
            <a:pPr marL="0" indent="0">
              <a:buNone/>
            </a:pPr>
            <a:endParaRPr lang="en-US" sz="2400" dirty="0">
              <a:ea typeface="+mn-lt"/>
              <a:cs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6C791-DB01-3830-AD0C-B5C014B52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9624" y="5943600"/>
            <a:ext cx="722376" cy="914400"/>
          </a:xfrm>
        </p:spPr>
        <p:txBody>
          <a:bodyPr/>
          <a:lstStyle/>
          <a:p>
            <a:fld id="{3E1D1B55-F3E9-1242-8F18-D4006193687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03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41138-5708-6F5A-9AD9-505E77C6B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14400"/>
          </a:xfrm>
        </p:spPr>
        <p:txBody>
          <a:bodyPr anchor="b">
            <a:normAutofit/>
          </a:bodyPr>
          <a:lstStyle/>
          <a:p>
            <a:r>
              <a:rPr lang="en-US" b="0" dirty="0"/>
              <a:t>Confirm your course status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39555-41F8-3849-4AC1-8024B7147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9624" y="5943600"/>
            <a:ext cx="722376" cy="9144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3E1D1B55-F3E9-1242-8F18-D4006193687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FC0861-C406-CD63-3D38-ACADA1F45E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825625"/>
            <a:ext cx="10775577" cy="4333128"/>
          </a:xfrm>
        </p:spPr>
        <p:txBody>
          <a:bodyPr/>
          <a:lstStyle/>
          <a:p>
            <a:r>
              <a:rPr lang="en-US" altLang="zh-CN" dirty="0"/>
              <a:t>Check your grade first. A student may repeat a course only if they earned a grade </a:t>
            </a:r>
            <a:r>
              <a:rPr lang="en-US" altLang="zh-CN" b="1" dirty="0"/>
              <a:t>below a “C”</a:t>
            </a:r>
            <a:r>
              <a:rPr lang="en-US" altLang="zh-CN" dirty="0"/>
              <a:t> (Unless an exception is granted)</a:t>
            </a:r>
          </a:p>
          <a:p>
            <a:r>
              <a:rPr lang="en-US" altLang="zh-CN" dirty="0"/>
              <a:t>If you get a “C” or better, but still seeking to repeat the course:</a:t>
            </a:r>
          </a:p>
          <a:p>
            <a:pPr marL="0" indent="0">
              <a:buNone/>
            </a:pPr>
            <a:r>
              <a:rPr lang="en-US" altLang="zh-CN" dirty="0"/>
              <a:t> - Consult with your </a:t>
            </a:r>
            <a:r>
              <a:rPr lang="en-US" altLang="zh-CN" b="1" dirty="0"/>
              <a:t>academic advisor </a:t>
            </a:r>
            <a:r>
              <a:rPr lang="en-US" altLang="zh-CN" dirty="0"/>
              <a:t>to see if repeating the course is advisable</a:t>
            </a:r>
          </a:p>
          <a:p>
            <a:pPr marL="0" indent="0">
              <a:buNone/>
            </a:pPr>
            <a:r>
              <a:rPr lang="en-US" altLang="zh-CN" dirty="0"/>
              <a:t> - Grade Forgiveness cannot be applied</a:t>
            </a:r>
          </a:p>
          <a:p>
            <a:endParaRPr lang="en-US" altLang="zh-CN" sz="2000" dirty="0"/>
          </a:p>
          <a:p>
            <a:pPr>
              <a:buFontTx/>
              <a:buChar char="-"/>
            </a:pP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856214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E4FA8-90C3-B2B0-3DE2-BCD39274F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4F461-AAE7-83E6-D7F2-4AD4A6D85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14400"/>
          </a:xfrm>
        </p:spPr>
        <p:txBody>
          <a:bodyPr anchor="b">
            <a:normAutofit/>
          </a:bodyPr>
          <a:lstStyle/>
          <a:p>
            <a:r>
              <a:rPr lang="en-US" b="0" dirty="0"/>
              <a:t>Confirm your course status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28DCB-4E1D-2602-F9D5-A4FAF39F0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9624" y="5943600"/>
            <a:ext cx="722376" cy="9144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3E1D1B55-F3E9-1242-8F18-D40061936871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065B9-F9E3-3D5F-2C64-C4A2D2BBCB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825625"/>
            <a:ext cx="11161060" cy="3432175"/>
          </a:xfrm>
        </p:spPr>
        <p:txBody>
          <a:bodyPr/>
          <a:lstStyle/>
          <a:p>
            <a:r>
              <a:rPr lang="en-US" altLang="zh-CN" dirty="0"/>
              <a:t>Usually if it’s your 2</a:t>
            </a:r>
            <a:r>
              <a:rPr lang="en-US" altLang="zh-CN" baseline="30000" dirty="0"/>
              <a:t>nd</a:t>
            </a:r>
            <a:r>
              <a:rPr lang="en-US" altLang="zh-CN" dirty="0"/>
              <a:t> attempt: </a:t>
            </a:r>
            <a:r>
              <a:rPr lang="en-US" altLang="zh-CN" b="1" dirty="0"/>
              <a:t>Just enroll again</a:t>
            </a:r>
          </a:p>
          <a:p>
            <a:pPr>
              <a:buFontTx/>
              <a:buChar char="-"/>
            </a:pPr>
            <a:r>
              <a:rPr lang="en-US" altLang="zh-CN" sz="2000" dirty="0"/>
              <a:t>Log into </a:t>
            </a:r>
            <a:r>
              <a:rPr lang="en-US" altLang="zh-CN" sz="2000" dirty="0" err="1"/>
              <a:t>LionPATH</a:t>
            </a:r>
            <a:endParaRPr lang="en-US" altLang="zh-CN" sz="2000" dirty="0"/>
          </a:p>
          <a:p>
            <a:pPr>
              <a:buFontTx/>
              <a:buChar char="-"/>
            </a:pPr>
            <a:r>
              <a:rPr lang="en-US" altLang="zh-CN" sz="2000" dirty="0"/>
              <a:t>Use Class Search / Schedule Builder to find the same course you want to repeat</a:t>
            </a:r>
          </a:p>
          <a:p>
            <a:pPr>
              <a:buFontTx/>
              <a:buChar char="-"/>
            </a:pPr>
            <a:r>
              <a:rPr lang="en-US" altLang="zh-CN" sz="2000" dirty="0"/>
              <a:t>If </a:t>
            </a:r>
            <a:r>
              <a:rPr lang="en-US" altLang="zh-CN" sz="2000" dirty="0" err="1"/>
              <a:t>LionPATH</a:t>
            </a:r>
            <a:r>
              <a:rPr lang="en-US" altLang="zh-CN" sz="2000" dirty="0"/>
              <a:t> blocks you due to prerequisites, contact your </a:t>
            </a:r>
            <a:r>
              <a:rPr lang="en-US" altLang="zh-CN" sz="2000" b="1" dirty="0"/>
              <a:t>academic advisor</a:t>
            </a:r>
          </a:p>
          <a:p>
            <a:pPr>
              <a:buFontTx/>
              <a:buChar char="-"/>
            </a:pP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136894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FC0DD-93F1-DDA6-F59A-95A82309B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BC76C-9DF5-5B12-A830-48DCF08F2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14400"/>
          </a:xfrm>
        </p:spPr>
        <p:txBody>
          <a:bodyPr anchor="b">
            <a:normAutofit/>
          </a:bodyPr>
          <a:lstStyle/>
          <a:p>
            <a:r>
              <a:rPr lang="en-US" b="0" dirty="0"/>
              <a:t>If 3</a:t>
            </a:r>
            <a:r>
              <a:rPr lang="en-US" b="0" baseline="30000" dirty="0"/>
              <a:t>rd</a:t>
            </a:r>
            <a:r>
              <a:rPr lang="en-US" b="0" dirty="0"/>
              <a:t> attempt is needed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B8C11-9362-0DEE-F964-FEB1C5E56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9624" y="5943600"/>
            <a:ext cx="722376" cy="9144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3E1D1B55-F3E9-1242-8F18-D40061936871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BB6E00-D6E9-7B40-7864-A205E4365C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1" y="1825625"/>
            <a:ext cx="6705600" cy="3432175"/>
          </a:xfrm>
        </p:spPr>
        <p:txBody>
          <a:bodyPr/>
          <a:lstStyle/>
          <a:p>
            <a:r>
              <a:rPr lang="en-US" altLang="zh-CN" dirty="0"/>
              <a:t>Talk to your </a:t>
            </a:r>
            <a:r>
              <a:rPr lang="en-US" altLang="zh-CN" b="1" dirty="0"/>
              <a:t>academic advisor </a:t>
            </a:r>
            <a:r>
              <a:rPr lang="en-US" altLang="zh-CN" dirty="0"/>
              <a:t>first</a:t>
            </a:r>
          </a:p>
          <a:p>
            <a:r>
              <a:rPr lang="en-US" altLang="zh-CN" dirty="0"/>
              <a:t>In </a:t>
            </a:r>
            <a:r>
              <a:rPr lang="en-US" altLang="zh-CN" dirty="0" err="1"/>
              <a:t>LionPATH</a:t>
            </a:r>
            <a:r>
              <a:rPr lang="en-US" altLang="zh-CN" dirty="0"/>
              <a:t>, submit the </a:t>
            </a:r>
            <a:r>
              <a:rPr lang="en-US" altLang="zh-CN" b="1" dirty="0"/>
              <a:t>Course Repeat Form</a:t>
            </a:r>
          </a:p>
          <a:p>
            <a:r>
              <a:rPr lang="en-US" altLang="zh-CN" dirty="0"/>
              <a:t>Once approved, </a:t>
            </a:r>
            <a:r>
              <a:rPr lang="en-US" altLang="zh-CN" dirty="0" err="1"/>
              <a:t>LionPATH</a:t>
            </a:r>
            <a:r>
              <a:rPr lang="en-US" altLang="zh-CN" dirty="0"/>
              <a:t> will tell you the specific date to enroll </a:t>
            </a:r>
          </a:p>
          <a:p>
            <a:pPr marL="0" indent="0">
              <a:buNone/>
            </a:pPr>
            <a:r>
              <a:rPr lang="en-US" altLang="zh-CN" sz="1800" b="1" i="1" dirty="0"/>
              <a:t>*</a:t>
            </a:r>
            <a:r>
              <a:rPr lang="en-US" altLang="zh-CN" sz="1800" i="1" dirty="0"/>
              <a:t>The form must be submitted at least 10 university business days prior to the first day of classes of the semester for which the student wants to enroll</a:t>
            </a:r>
          </a:p>
          <a:p>
            <a:pPr marL="0" indent="0">
              <a:buNone/>
            </a:pPr>
            <a:endParaRPr lang="en-US" altLang="zh-CN" sz="1800" b="1" i="1" dirty="0"/>
          </a:p>
          <a:p>
            <a:endParaRPr lang="zh-CN" altLang="en-US" b="1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07A9002-C5D1-0EED-B766-71DA73219A8C}"/>
              </a:ext>
            </a:extLst>
          </p:cNvPr>
          <p:cNvSpPr/>
          <p:nvPr/>
        </p:nvSpPr>
        <p:spPr>
          <a:xfrm>
            <a:off x="7207625" y="2554940"/>
            <a:ext cx="367551" cy="165880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800" dirty="0">
              <a:solidFill>
                <a:schemeClr val="bg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5AA769-65EE-E2E8-6620-3D9A3CABA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5176" y="2402154"/>
            <a:ext cx="4022103" cy="138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277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640D5-07B8-5F72-9AD8-FDBCD612E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36137-C0F9-5E32-7576-380EAA4ED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14400"/>
          </a:xfrm>
        </p:spPr>
        <p:txBody>
          <a:bodyPr anchor="b">
            <a:normAutofit/>
          </a:bodyPr>
          <a:lstStyle/>
          <a:p>
            <a:r>
              <a:rPr lang="en-US" b="0" dirty="0"/>
              <a:t>(Optional) After repeating the course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A9C98-7636-EC71-94A7-44FF0E631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9624" y="5943600"/>
            <a:ext cx="722376" cy="9144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3E1D1B55-F3E9-1242-8F18-D40061936871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308185-B768-BDEA-D7AA-B1705BA340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774607"/>
            <a:ext cx="8937813" cy="3432175"/>
          </a:xfrm>
        </p:spPr>
        <p:txBody>
          <a:bodyPr/>
          <a:lstStyle/>
          <a:p>
            <a:r>
              <a:rPr lang="en-US" altLang="zh-CN" dirty="0"/>
              <a:t>You can request </a:t>
            </a:r>
            <a:r>
              <a:rPr lang="en-US" altLang="zh-CN" b="1" dirty="0"/>
              <a:t>Grade Forgiveness</a:t>
            </a:r>
            <a:r>
              <a:rPr lang="en-US" altLang="zh-CN" dirty="0"/>
              <a:t> if your original grade was D/F</a:t>
            </a:r>
            <a:endParaRPr lang="en-US" altLang="zh-CN" b="1" dirty="0"/>
          </a:p>
          <a:p>
            <a:r>
              <a:rPr lang="en-US" altLang="zh-CN" dirty="0"/>
              <a:t>In </a:t>
            </a:r>
            <a:r>
              <a:rPr lang="en-US" altLang="zh-CN" dirty="0" err="1"/>
              <a:t>LionPATH</a:t>
            </a:r>
            <a:r>
              <a:rPr lang="en-US" altLang="zh-CN" dirty="0"/>
              <a:t>, go to </a:t>
            </a:r>
            <a:r>
              <a:rPr lang="en-US" altLang="zh-CN" b="1" dirty="0"/>
              <a:t>Academic Records </a:t>
            </a:r>
            <a:r>
              <a:rPr lang="en-US" altLang="zh-CN" dirty="0"/>
              <a:t>– </a:t>
            </a:r>
            <a:r>
              <a:rPr lang="en-US" altLang="zh-CN" b="1" dirty="0"/>
              <a:t>Grade Forgiveness</a:t>
            </a:r>
          </a:p>
          <a:p>
            <a:endParaRPr lang="en-US" altLang="zh-CN" b="1" dirty="0"/>
          </a:p>
          <a:p>
            <a:r>
              <a:rPr lang="en-US" altLang="zh-CN" dirty="0"/>
              <a:t>More details at </a:t>
            </a:r>
            <a:r>
              <a:rPr lang="en-US" altLang="zh-CN" u="sng" dirty="0">
                <a:solidFill>
                  <a:schemeClr val="accent1"/>
                </a:solidFill>
              </a:rPr>
              <a:t>Grade Forgiveness.pptx</a:t>
            </a:r>
          </a:p>
          <a:p>
            <a:pPr marL="0" indent="0">
              <a:buNone/>
            </a:pPr>
            <a:endParaRPr lang="en-US" altLang="zh-CN" sz="1800" b="1" i="1" dirty="0"/>
          </a:p>
          <a:p>
            <a:endParaRPr lang="zh-CN" altLang="en-US" b="1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34F4D585-C4BA-ADF8-2C9C-D2E38627C6AE}"/>
              </a:ext>
            </a:extLst>
          </p:cNvPr>
          <p:cNvSpPr/>
          <p:nvPr/>
        </p:nvSpPr>
        <p:spPr>
          <a:xfrm>
            <a:off x="8725196" y="3496266"/>
            <a:ext cx="923364" cy="170299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800" dirty="0">
              <a:solidFill>
                <a:schemeClr val="bg2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C8ACCB-CB83-33AB-2A91-FC0245F5BA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372"/>
          <a:stretch>
            <a:fillRect/>
          </a:stretch>
        </p:blipFill>
        <p:spPr>
          <a:xfrm>
            <a:off x="9853364" y="1972234"/>
            <a:ext cx="1864104" cy="179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615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B5D1F-081F-B2F9-2860-1D4640BD7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E2D7-E2B6-620E-19E7-DC51100A9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14400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b="1" kern="1200" dirty="0">
                <a:latin typeface="+mj-lt"/>
                <a:ea typeface="+mj-ea"/>
                <a:cs typeface="+mj-cs"/>
              </a:rPr>
              <a:t>More Info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FB249-0150-1D37-B885-24627B53D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9624" y="5943600"/>
            <a:ext cx="722376" cy="914400"/>
          </a:xfrm>
        </p:spPr>
        <p:txBody>
          <a:bodyPr vert="horz" lIns="91440" tIns="265176" rIns="91440" bIns="91440" rtlCol="0" anchor="t" anchorCtr="0">
            <a:normAutofit/>
          </a:bodyPr>
          <a:lstStyle/>
          <a:p>
            <a:pPr>
              <a:spcAft>
                <a:spcPts val="600"/>
              </a:spcAft>
            </a:pPr>
            <a:fld id="{3E1D1B55-F3E9-1242-8F18-D40061936871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DCF46A1-8CBA-95D8-C0CB-67D29D4313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825625"/>
            <a:ext cx="8417859" cy="3432175"/>
          </a:xfrm>
        </p:spPr>
        <p:txBody>
          <a:bodyPr/>
          <a:lstStyle/>
          <a:p>
            <a:r>
              <a:rPr lang="en-US" altLang="zh-CN" dirty="0"/>
              <a:t>Penn State’s repeat policy is described under </a:t>
            </a:r>
            <a:r>
              <a:rPr lang="en-US" altLang="zh-CN" dirty="0">
                <a:hlinkClick r:id="rId3"/>
              </a:rPr>
              <a:t>Policy </a:t>
            </a:r>
            <a:r>
              <a:rPr lang="en-US" altLang="zh-CN" b="1" dirty="0">
                <a:hlinkClick r:id="rId3"/>
              </a:rPr>
              <a:t>C-7</a:t>
            </a:r>
            <a:endParaRPr lang="en-US" altLang="zh-CN" b="1" dirty="0"/>
          </a:p>
          <a:p>
            <a:r>
              <a:rPr lang="en-US" altLang="zh-CN" dirty="0"/>
              <a:t>Senate Policies: </a:t>
            </a:r>
            <a:r>
              <a:rPr lang="en-US" altLang="zh-CN" dirty="0">
                <a:hlinkClick r:id="rId4"/>
              </a:rPr>
              <a:t>47-00, 48-00, and 49-00 Grades </a:t>
            </a:r>
            <a:endParaRPr lang="en-US" altLang="zh-CN" b="1" dirty="0"/>
          </a:p>
          <a:p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3052934500"/>
      </p:ext>
    </p:extLst>
  </p:cSld>
  <p:clrMapOvr>
    <a:masterClrMapping/>
  </p:clrMapOvr>
</p:sld>
</file>

<file path=ppt/theme/theme1.xml><?xml version="1.0" encoding="utf-8"?>
<a:theme xmlns:a="http://schemas.openxmlformats.org/drawingml/2006/main" name="PSU Corner Shield Basic Theme">
  <a:themeElements>
    <a:clrScheme name="PSU Base Color Theme">
      <a:dk1>
        <a:srgbClr val="262626"/>
      </a:dk1>
      <a:lt1>
        <a:srgbClr val="FFFFFF"/>
      </a:lt1>
      <a:dk2>
        <a:srgbClr val="1E407C"/>
      </a:dk2>
      <a:lt2>
        <a:srgbClr val="CCF0FF"/>
      </a:lt2>
      <a:accent1>
        <a:srgbClr val="009CDE"/>
      </a:accent1>
      <a:accent2>
        <a:srgbClr val="1E407C"/>
      </a:accent2>
      <a:accent3>
        <a:srgbClr val="A2AAAD"/>
      </a:accent3>
      <a:accent4>
        <a:srgbClr val="96BEE6"/>
      </a:accent4>
      <a:accent5>
        <a:srgbClr val="3EA39E"/>
      </a:accent5>
      <a:accent6>
        <a:srgbClr val="304D64"/>
      </a:accent6>
      <a:hlink>
        <a:srgbClr val="005FA9"/>
      </a:hlink>
      <a:folHlink>
        <a:srgbClr val="AC8DC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mpd="sng">
          <a:solidFill>
            <a:schemeClr val="tx2"/>
          </a:solidFill>
          <a:tailEnd type="non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_Corner-Shield_v03-02.pptx" id="{199CED2F-3E11-A249-A8A0-371F2253AE5A}" vid="{7D869A32-DE16-724D-AC64-F2155F6B84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4867D4D53E3D4DAEB8A24C74DE7595" ma:contentTypeVersion="0" ma:contentTypeDescription="Create a new document." ma:contentTypeScope="" ma:versionID="8b1d02755e4bc9d146eb01fd75d1c18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436B2B5-49C6-48E4-867C-1753A3547196}"/>
</file>

<file path=customXml/itemProps2.xml><?xml version="1.0" encoding="utf-8"?>
<ds:datastoreItem xmlns:ds="http://schemas.openxmlformats.org/officeDocument/2006/customXml" ds:itemID="{2D3C5FBF-CEB1-4F21-9D6B-FCB7D4B4E0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C83BC7-AE5F-43EE-B82C-5758B69134B6}">
  <ds:schemaRefs>
    <ds:schemaRef ds:uri="28f5b418-f2c1-4a16-8283-c5ed56dbb9cc"/>
    <ds:schemaRef ds:uri="3c8fd356-1280-4d00-a910-3bff90828a90"/>
    <ds:schemaRef ds:uri="542b8847-f5d4-4c9f-bd30-657d16e5db1d"/>
    <ds:schemaRef ds:uri="c7c738f6-68ec-422e-b0e4-3523873f7ad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PSU Corner Shield Basic Theme</Template>
  <TotalTime>261</TotalTime>
  <Words>314</Words>
  <Application>Microsoft Office PowerPoint</Application>
  <PresentationFormat>Widescreen</PresentationFormat>
  <Paragraphs>46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System Font Regular</vt:lpstr>
      <vt:lpstr>Aptos</vt:lpstr>
      <vt:lpstr>Arial</vt:lpstr>
      <vt:lpstr>Franklin Gothic Book</vt:lpstr>
      <vt:lpstr>Franklin Gothic Medium</vt:lpstr>
      <vt:lpstr>Wingdings</vt:lpstr>
      <vt:lpstr>PSU Corner Shield Basic Theme</vt:lpstr>
      <vt:lpstr>Course Repeat</vt:lpstr>
      <vt:lpstr>Overview</vt:lpstr>
      <vt:lpstr>Confirm your course status</vt:lpstr>
      <vt:lpstr>Confirm your course status</vt:lpstr>
      <vt:lpstr>If 3rd attempt is needed</vt:lpstr>
      <vt:lpstr>(Optional) After repeating the course</vt:lpstr>
      <vt:lpstr>More Info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Venugopal, Vishnu Mattakkattu</dc:creator>
  <cp:keywords>basic, brand, layout, Penn State, PowerPoint, presentation, template</cp:keywords>
  <dc:description/>
  <cp:lastModifiedBy>Sans C</cp:lastModifiedBy>
  <cp:revision>4</cp:revision>
  <cp:lastPrinted>2025-07-22T15:00:44Z</cp:lastPrinted>
  <dcterms:created xsi:type="dcterms:W3CDTF">2026-02-02T21:54:26Z</dcterms:created>
  <dcterms:modified xsi:type="dcterms:W3CDTF">2026-02-13T01:00:50Z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0x010100964867D4D53E3D4DAEB8A24C74DE7595</vt:lpwstr>
  </property>
  <property fmtid="{D5CDD505-2E9C-101B-9397-08002B2CF9AE}" pid="3" name="MediaServiceImageTags">
    <vt:lpwstr/>
  </property>
  <property fmtid="{D5CDD505-2E9C-101B-9397-08002B2CF9AE}" pid="4" name="Version">
    <vt:lpwstr>3.2</vt:lpwstr>
  </property>
</Properties>
</file>